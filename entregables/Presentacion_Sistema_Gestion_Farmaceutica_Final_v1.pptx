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6cad604d0541cc" /><Relationship Type="http://schemas.openxmlformats.org/officeDocument/2006/relationships/extended-properties" Target="/docProps/app.xml" Id="R221c7717d3b94194" /><Relationship Type="http://schemas.openxmlformats.org/officeDocument/2006/relationships/officeDocument" Target="/ppt/presentation.xml" Id="R7b8a59328301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3c1ccee44e4f0d"/>
  </p:sldMasterIdLst>
  <p:notesMasterIdLst>
    <p:notesMasterId xmlns:r="http://schemas.openxmlformats.org/officeDocument/2006/relationships" r:id="R126dbcced13c4139"/>
  </p:notesMasterIdLst>
  <p:sldIdLst>
    <p:sldId xmlns:r="http://schemas.openxmlformats.org/officeDocument/2006/relationships" id="256" r:id="R4ada87e1cef94ed3"/>
    <p:sldId xmlns:r="http://schemas.openxmlformats.org/officeDocument/2006/relationships" id="257" r:id="R7352d9e73fc64a8e"/>
    <p:sldId xmlns:r="http://schemas.openxmlformats.org/officeDocument/2006/relationships" id="258" r:id="R1b06ac937c6a4e6d"/>
    <p:sldId xmlns:r="http://schemas.openxmlformats.org/officeDocument/2006/relationships" id="259" r:id="Ra128c8741d3d4627"/>
    <p:sldId xmlns:r="http://schemas.openxmlformats.org/officeDocument/2006/relationships" id="260" r:id="Re928e2e8ea594864"/>
    <p:sldId xmlns:r="http://schemas.openxmlformats.org/officeDocument/2006/relationships" id="261" r:id="R6930396e52444516"/>
    <p:sldId xmlns:r="http://schemas.openxmlformats.org/officeDocument/2006/relationships" id="262" r:id="R9e11c43fd5e54461"/>
    <p:sldId xmlns:r="http://schemas.openxmlformats.org/officeDocument/2006/relationships" id="263" r:id="R0d83b21d340f4742"/>
    <p:sldId xmlns:r="http://schemas.openxmlformats.org/officeDocument/2006/relationships" id="264" r:id="Rdbf10b185ff04f5c"/>
    <p:sldId xmlns:r="http://schemas.openxmlformats.org/officeDocument/2006/relationships" id="265" r:id="R7b4000ddcbd444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b8bfa05f0e4ed8" /><Relationship Type="http://schemas.openxmlformats.org/officeDocument/2006/relationships/slideMaster" Target="/ppt/slideMasters/slideMaster1.xml" Id="Rcf3c1ccee44e4f0d" /><Relationship Type="http://schemas.openxmlformats.org/officeDocument/2006/relationships/notesMaster" Target="/ppt/notesMasters/notesMaster1.xml" Id="R126dbcced13c4139" /><Relationship Type="http://schemas.openxmlformats.org/officeDocument/2006/relationships/presProps" Target="/ppt/presProps.xml" Id="R7f7a8be4486f4274" /><Relationship Type="http://schemas.openxmlformats.org/officeDocument/2006/relationships/tableStyles" Target="/ppt/tableStyles.xml" Id="R1a50df33eb614587" /><Relationship Type="http://schemas.openxmlformats.org/officeDocument/2006/relationships/slide" Target="/ppt/slides/slide1.xml" Id="R4ada87e1cef94ed3" /><Relationship Type="http://schemas.openxmlformats.org/officeDocument/2006/relationships/slide" Target="/ppt/slides/slide2.xml" Id="R7352d9e73fc64a8e" /><Relationship Type="http://schemas.openxmlformats.org/officeDocument/2006/relationships/slide" Target="/ppt/slides/slide3.xml" Id="R1b06ac937c6a4e6d" /><Relationship Type="http://schemas.openxmlformats.org/officeDocument/2006/relationships/slide" Target="/ppt/slides/slide4.xml" Id="Ra128c8741d3d4627" /><Relationship Type="http://schemas.openxmlformats.org/officeDocument/2006/relationships/slide" Target="/ppt/slides/slide5.xml" Id="Re928e2e8ea594864" /><Relationship Type="http://schemas.openxmlformats.org/officeDocument/2006/relationships/slide" Target="/ppt/slides/slide6.xml" Id="R6930396e52444516" /><Relationship Type="http://schemas.openxmlformats.org/officeDocument/2006/relationships/slide" Target="/ppt/slides/slide7.xml" Id="R9e11c43fd5e54461" /><Relationship Type="http://schemas.openxmlformats.org/officeDocument/2006/relationships/slide" Target="/ppt/slides/slide8.xml" Id="R0d83b21d340f4742" /><Relationship Type="http://schemas.openxmlformats.org/officeDocument/2006/relationships/slide" Target="/ppt/slides/slide9.xml" Id="Rdbf10b185ff04f5c" /><Relationship Type="http://schemas.openxmlformats.org/officeDocument/2006/relationships/slide" Target="/ppt/slides/slide10.xml" Id="R7b4000ddcbd444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25e7ab9c743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ae6d70cb264e3c" /><Relationship Type="http://schemas.openxmlformats.org/officeDocument/2006/relationships/notesMaster" Target="/ppt/notesMasters/notesMaster1.xml" Id="Rb619809786564a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e8973823eb47eb" /><Relationship Type="http://schemas.openxmlformats.org/officeDocument/2006/relationships/notesMaster" Target="/ppt/notesMasters/notesMaster1.xml" Id="Rb29774e738d340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42f58f9d194686" /><Relationship Type="http://schemas.openxmlformats.org/officeDocument/2006/relationships/notesMaster" Target="/ppt/notesMasters/notesMaster1.xml" Id="R4593017f5f2c4b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87be03deb34ab6" /><Relationship Type="http://schemas.openxmlformats.org/officeDocument/2006/relationships/notesMaster" Target="/ppt/notesMasters/notesMaster1.xml" Id="R0d988937eecc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0ccb697b5a4e34" /><Relationship Type="http://schemas.openxmlformats.org/officeDocument/2006/relationships/notesMaster" Target="/ppt/notesMasters/notesMaster1.xml" Id="R7daa5c7e8b7a4a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3f22627d4471f" /><Relationship Type="http://schemas.openxmlformats.org/officeDocument/2006/relationships/notesMaster" Target="/ppt/notesMasters/notesMaster1.xml" Id="R31948eb8f4324f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01193d5c3549eb" /><Relationship Type="http://schemas.openxmlformats.org/officeDocument/2006/relationships/notesMaster" Target="/ppt/notesMasters/notesMaster1.xml" Id="R483c8e4d506c4b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007c4267a343d9" /><Relationship Type="http://schemas.openxmlformats.org/officeDocument/2006/relationships/notesMaster" Target="/ppt/notesMasters/notesMaster1.xml" Id="R2b307f3ee30642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91871619c414b" /><Relationship Type="http://schemas.openxmlformats.org/officeDocument/2006/relationships/notesMaster" Target="/ppt/notesMasters/notesMaster1.xml" Id="R2575e76fb84348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98baddec58440f" /><Relationship Type="http://schemas.openxmlformats.org/officeDocument/2006/relationships/notesMaster" Target="/ppt/notesMasters/notesMaster1.xml" Id="Rf074491ed3f343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9f300206f4f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7082251ab42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1e3e1f12840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7c6ee35644e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90df1ac8745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1f7b6ad52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6BBA87-17EC-4D11-8854-78BC1BDEF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807691-9FF2-4A76-8B36-B9FA8A7FE1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5BBD68-6350-424D-B4EE-BBF1FD11B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F7651-3CF3-48BF-862B-B12B4BDA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0211D4-D25E-4887-BD21-F9FD8B960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DF478E-7715-40D8-8244-E7AABBF44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3B367B-3670-40A6-86A2-0F824D8E9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7E8FA2-8B86-4F6D-B8BE-15FD20A88A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8EC0B-6507-4923-B52E-B1A7F3DB3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5A58B8-CD94-4D86-A2B2-5B3C7A5BA0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f7a7bbcdf4585" /><Relationship Type="http://schemas.openxmlformats.org/officeDocument/2006/relationships/slideLayout" Target="/ppt/slideLayouts/slideLayout1.xml" Id="Re77c869fa4b64798" /><Relationship Type="http://schemas.openxmlformats.org/officeDocument/2006/relationships/slideLayout" Target="/ppt/slideLayouts/slideLayout2.xml" Id="Rc7ded82bdc0c4923" /><Relationship Type="http://schemas.openxmlformats.org/officeDocument/2006/relationships/slideLayout" Target="/ppt/slideLayouts/slideLayout3.xml" Id="R19e3956fddae42af" /><Relationship Type="http://schemas.openxmlformats.org/officeDocument/2006/relationships/slideLayout" Target="/ppt/slideLayouts/slideLayout4.xml" Id="R40621269309448e0" /><Relationship Type="http://schemas.openxmlformats.org/officeDocument/2006/relationships/slideLayout" Target="/ppt/slideLayouts/slideLayout5.xml" Id="R82811142ddd7483c" /><Relationship Type="http://schemas.openxmlformats.org/officeDocument/2006/relationships/slideLayout" Target="/ppt/slideLayouts/slideLayout6.xml" Id="R9c021c17c3e3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c869fa4b64798"/>
    <p:sldLayoutId xmlns:r="http://schemas.openxmlformats.org/officeDocument/2006/relationships" id="2147483650" r:id="Rc7ded82bdc0c4923"/>
    <p:sldLayoutId xmlns:r="http://schemas.openxmlformats.org/officeDocument/2006/relationships" id="2147483651" r:id="R19e3956fddae42af"/>
    <p:sldLayoutId xmlns:r="http://schemas.openxmlformats.org/officeDocument/2006/relationships" id="2147483652" r:id="R40621269309448e0"/>
    <p:sldLayoutId xmlns:r="http://schemas.openxmlformats.org/officeDocument/2006/relationships" id="2147483653" r:id="R82811142ddd7483c"/>
    <p:sldLayoutId xmlns:r="http://schemas.openxmlformats.org/officeDocument/2006/relationships" id="2147483654" r:id="R9c021c17c3e3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3a1be49ef4798" /><Relationship Type="http://schemas.openxmlformats.org/officeDocument/2006/relationships/image" Target="/ppt/media/image.png" Id="R53aab6f31f94427d" /><Relationship Type="http://schemas.openxmlformats.org/officeDocument/2006/relationships/image" Target="/ppt/media/image.jpeg" Id="R09e9ab5e9b2b48d1" /><Relationship Type="http://schemas.openxmlformats.org/officeDocument/2006/relationships/notesSlide" Target="/ppt/notesSlides/notesSlide1.xml" Id="R49745a6cd10f4d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0a44436444cf3" /><Relationship Type="http://schemas.openxmlformats.org/officeDocument/2006/relationships/notesSlide" Target="/ppt/notesSlides/notesSlide2.xml" Id="R1338d2ca478541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6b631d73b48fa" /><Relationship Type="http://schemas.openxmlformats.org/officeDocument/2006/relationships/notesSlide" Target="/ppt/notesSlides/notesSlide3.xml" Id="Re6f4506db765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c644b7aff40b4" /><Relationship Type="http://schemas.openxmlformats.org/officeDocument/2006/relationships/notesSlide" Target="/ppt/notesSlides/notesSlide4.xml" Id="R904ed522c96e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cf28f43d54eed" /><Relationship Type="http://schemas.openxmlformats.org/officeDocument/2006/relationships/notesSlide" Target="/ppt/notesSlides/notesSlide5.xml" Id="R8520a0bddd6f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ee1dd48a7404b" /><Relationship Type="http://schemas.openxmlformats.org/officeDocument/2006/relationships/notesSlide" Target="/ppt/notesSlides/notesSlide6.xml" Id="R0089e61e00ca41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9c37f7ee643b4" /><Relationship Type="http://schemas.openxmlformats.org/officeDocument/2006/relationships/image" Target="/ppt/media/image2.png" Id="Rcf951f2411544856" /><Relationship Type="http://schemas.openxmlformats.org/officeDocument/2006/relationships/notesSlide" Target="/ppt/notesSlides/notesSlide7.xml" Id="R103ae2131033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f466ed1ec434d" /><Relationship Type="http://schemas.openxmlformats.org/officeDocument/2006/relationships/notesSlide" Target="/ppt/notesSlides/notesSlide8.xml" Id="R31ebb08344584d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b5aa7ae044624" /><Relationship Type="http://schemas.openxmlformats.org/officeDocument/2006/relationships/notesSlide" Target="/ppt/notesSlides/notesSlide9.xml" Id="R7dac0ee6b86449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e09c0c05f4dbd" /><Relationship Type="http://schemas.openxmlformats.org/officeDocument/2006/relationships/notesSlide" Target="/ppt/notesSlides/notesSlide10.xml" Id="Rb1b0a0708863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E15DD-3223-432F-8020-AFB9B07D7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ab6f31f94427d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5E251-C0F1-49AE-8DE7-6672BECC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E6EC2-5EEE-44C9-90F6-055FA7A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6C38-FE82-4076-B7CD-20FB4DEB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7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03B19-D567-46B1-ADB7-7A088ADD0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ab5e9b2b48d1"/>
          <a:stretch xmlns:a="http://schemas.openxmlformats.org/drawingml/2006/main"/>
        </p:blipFill>
        <p:spPr>
          <a:xfrm xmlns:a="http://schemas.openxmlformats.org/drawingml/2006/main">
            <a:off x="876300" y="440924"/>
            <a:ext cx="1143000" cy="5659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E4216-6BCD-4D59-AEDC-2AAEF7E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C3248-63B6-406B-B196-F79A5650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 de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farmacéutica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E373-2820-4779-B5A5-63F6D7C4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5EA"/>
                </a:solidFill>
                <a:latin typeface="Arial"/>
                <a:ea typeface="Arial"/>
                <a:cs typeface="Arial"/>
              </a:rPr>
              <a:t>Proyecto aplicado a la Botica Virgen del Carmen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E2A20-4B6C-451F-AA95-E4AF8388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Angular 18 · Spring Boot 3.4.5 · PostgreSQL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1985B-B736-43CF-A5E1-E4964669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Jhosetd Deyker Gamboa Quispe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Juan Carlos Florez Pareja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DE631-3D8C-49F2-B338-1649C25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AB6"/>
                </a:solidFill>
                <a:latin typeface="Arial"/>
                <a:ea typeface="Arial"/>
                <a:cs typeface="Arial"/>
              </a:rPr>
              <a:t>Ingeniería de Sistemas de Información · VIII ciclo · 2026</a:t>
            </a:r>
          </a:p>
        </p:txBody>
      </p:sp>
    </p:spTree>
    <p:extLst>
      <p:ext uri="{BB962C8B-B14F-4D97-AF65-F5344CB8AC3E}">
        <p14:creationId xmlns:p14="http://schemas.microsoft.com/office/powerpoint/2010/main" val="1891151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9BB87-AE59-4522-9646-87F5245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77F7-F9A9-47F3-98B7-52DDA781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7E81C-17E9-4AB5-8657-914B8E05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95D1A-D32D-4D2D-A4D9-A7BF491A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001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operación pierde confiabilidad cuando cada proceso conserva información separada.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AA6DD-F285-407D-8D69-74E44C6A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Problema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FA58D-49B7-4BBA-826B-AA7E1EE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El stock registrado no siempre representa lo que existe físicamente.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1479E-E648-41D8-A8B0-815E2769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falta de control por lote afecta la atención, la trazabilidad y la detección oportuna de vencimientos.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5D0B2-D78A-40FE-860F-AC6C8797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D7E7C-5563-47ED-908D-1A52680B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824D6-E7B3-46FA-B59C-3D0FD665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AD196-F2F3-4257-B3A6-B6600731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Diferencias entre el sistema y el anaquel.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A6009-76A2-442D-90BB-3297409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212F3-2686-4FE6-9EED-ADF0DBB1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DE91A-CC66-4ABB-BE6E-126A1FFF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Alertas tardías y productos que pierden valor.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65849-2F12-4047-9FC0-D6CBACB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490B0-5AEA-40DE-A50E-6589068D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Procesos aislados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9C684-7CD4-4C1A-9F14-489FDAFD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Ventas, caja, compras e inventario sin trazabilidad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4132F-3D01-4805-9DCE-0D7E2ACB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6EFE0-5249-4B6C-B8BA-78952279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Reportes manuales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75AE2-8516-4B48-B156-784B835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Más tiempo para verificar información y preparar evidencias.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3F7F1-798E-4223-A8E2-9E46F64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585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Objetivo: controlar ventas, caja e inventario por usuario, producto y lote.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D5B22-1DD0-40A5-A286-E7380B92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AAD01-B105-4DBC-B79E-75B2CF6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75115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86CC4-5769-432A-8FEF-5121E857382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91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head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732ED-EFCC-4971-AEDF-D69BFB5A922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340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head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695B2-316C-44B4-A2FF-B4EC7F8BA7B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head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FD91D0-DC7B-4B3F-B810-8A1035C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A6B0A-92B2-4EC9-907E-23346621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73582-ABB3-45DE-9D0C-E193497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A80ED-B875-41BB-AD62-4D6AE4E9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7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plataforma web que integra la operación diaria y conserva el origen de cada movimiento.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E6C2-A2EE-4712-93CF-1F2793FB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4390B-AE3D-44D4-905D-EA6FDE4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E2B64-8175-4461-9D56-E549C726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VENTA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A8C22-5AFB-4CBC-8736-6B9F890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POS, cliente, receta y pagos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223DD-4FBE-481E-8DE4-57D6821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EE800-2C89-4FA6-93D1-37884AB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F13A7-4A0D-4AB3-8947-8D336E07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4B71F-B13E-4720-9FB9-E25AED6B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Lotes, FEFO, Kardex y conteo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EEB97-E8EE-423A-8FB0-52832742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01C9F-655E-4C22-9722-0BFECBCD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A8B8A-DA66-4489-9AD7-56B8B092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0A792-1BCA-4EB9-8E5B-0498AFF2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88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Compra, recepción y devolución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F3454-3676-4B5A-BDFA-CBA17A2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96572-091B-4EE0-823E-4152915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B0982-B6BF-4B57-8FB5-9D096F47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51A26-7F34-4A12-B8D1-25C1B1A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Apertura, movimientos y arqueo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FF2DD-3B9F-4596-BCBA-CDBB785B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Control transversal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6D36D-0EED-4D11-AEF2-AE96CDE0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53677-B7B2-4D9E-9CBD-0863221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Roles y permisos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7773C-17D9-4982-A15C-8397E42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reportes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DC082-0D34-43A2-ADCC-323457A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6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Auditoría de movimientos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E6329B-084A-4C51-9791-A0DA602D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6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Integraciones controladas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915E4-E441-4EA6-8134-8CDB71D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81A4D0-A029-40EB-B067-97BFB84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648025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46F23-F1F2-40AD-84D8-DED9C56F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CA0DF-5C41-48DE-9C02-BFBBED73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98300-3D9C-4140-AC3D-410DD0A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Usuarios y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20A33-D368-46D3-ACD5-54BB0E4E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rol accede únicamente a las funciones necesarias para su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B4A90-A703-4354-8B28-4DEF984A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C0DD6-55BD-4F1D-A41F-DE57DD5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Configura usuarios y catálogos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Supervisa cajas e inventario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Consulta reportes y cumplimiento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FF51A-D6D6-425E-B6A8-00C69CDD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3D1E1-6F95-495E-9576-9F7DBFE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6814D-73F2-4A85-836E-74CEAFFB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Abre y cierra su caja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Registra clientes y ventas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Procesa pagos y comprobantes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B6F14-A299-4E76-9CE7-4A02043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A45D8-DB1F-4E55-B3FB-E581EC2C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2625E-7D4B-405C-BAC5-2095CD58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Gestiona productos y lotes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Recibe compras y devoluciones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Realiza conteos y revisa alertas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674EB-BE09-40E0-A820-4A2D1629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Todas las operaciones quedan asociadas al usuario autenticado y a su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CD638-9E26-4690-AD2C-92CAA04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3B6E9-D398-45A4-986E-F0EC179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772644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7C843-6896-4068-9C5E-EA229307ED1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678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head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0E5997-FC4C-459F-AF45-1C9B04710C2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628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head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91A6B-F588-46F3-BD86-A33C5141E98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head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D30B1-3443-42A0-833F-C8959F16F23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527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head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65CB4E-C080-43C7-BEE9-613FDD0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52F77-B634-4FD6-A5D1-D84B1D6C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621FC-45F6-4F6A-9B43-4ACF2E34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Flujo operativo integrado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693DA-B644-44CC-B5F2-DD284940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7DE"/>
                </a:solidFill>
                <a:latin typeface="Arial"/>
                <a:ea typeface="Arial"/>
                <a:cs typeface="Arial"/>
              </a:rPr>
              <a:t>El sistema valida cada etapa antes de actualizar inventario, caja y documentos.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84801-25C1-41A7-ACC8-E2D2327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41713-B496-4E77-9E73-783FB274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B89EF-60AB-4787-8EB8-59BCCB3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1474B-E2CC-4FE7-94C7-4E66FF92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CF79-89EA-4AE3-9770-6AD9DDB3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Sesión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77BAC-44E0-4A9F-A20D-B3E910C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CB730-D5EA-4533-B749-5ABAC833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BF927-2112-4BB4-9B1E-49B880C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E9D0E-6A62-4EB4-97AF-5B5DE2A6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97024-8CA3-4EC9-9B96-6D5DD192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Público general, DNI o RUC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60DA1-9061-4983-9F0A-B44F020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7A4F1-2126-4BFC-92B5-7099D2D8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F35B6-322C-4055-92E4-22068A7F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32948-B7EB-4D9B-84F1-C44753C9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966F0-443E-4F66-8CC2-ACD240F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Stock, lote y condición de venta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9F949-5854-4E21-B0EC-F01B0800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0EA5F-D348-4CAA-AD51-8786F659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E3B8C-5036-43C9-B17F-090EF21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C1B89-C194-452A-8992-23D045CB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C28BC-D0A2-4505-BABE-9607EA15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Caja, receta, pagos y FEFO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8C83E-45EF-43C2-B5CC-2171322E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9B4B9-FDF8-4377-96E1-6D44CC0E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E4AE69-D7C2-44D9-9A5E-DA837052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18CC70-298B-4896-AB99-5854901A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12805-0F6E-4A2A-9F57-1EF4FDC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Kardex, comprobante y alertas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7EB83-C011-422D-B422-E9DA327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una regla falla, la transacción se revierte y no deja registros parciales.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261B4A-FDDD-4656-9A96-BEBAA2DA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9641D-18CB-4CD9-85C7-C4DCFAF8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981949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05931-9115-4968-899C-25A5A40B18A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238625"/>
            <a:ext cx="8572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FD2D7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CC1C7-ABEE-4EE7-A817-E67B633CADD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91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head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E6092-76F0-44F0-A147-C9A67B69377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head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EB2DE-8A25-42A8-B058-5AB9132536A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907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head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4AB3DA-B629-4951-A624-D84154A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FA70D-C0AD-4CF5-90B4-23E6FC2F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01A48-B683-4248-8494-E73E126B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Arquitectura y tecnologías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06869-79D0-4909-A02A-34842083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Arquitectura cliente servidor desplegada con contenedores y configuración por entorno.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31174-1A8B-402D-A16E-85D10498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9525">
            <a:solidFill>
              <a:srgbClr val="BF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D29A-BB52-41AF-8030-0F3E5D8F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A774F-1278-4B60-A409-0E233492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184C3-2660-4CF1-8499-397EE9F2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82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58C4D-26D6-4C66-AE41-C1D8E4D2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BDC31-F707-4A78-90CC-4D5C11A6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Angular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B49F0-1E5C-4170-96B4-74C583C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Nginx publica la interfaz y enruta las solicitudes 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4296B-0250-4576-B5F4-E1FD192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4765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F4FB"/>
          </a:solidFill>
          <a:ln xmlns:a="http://schemas.openxmlformats.org/drawingml/2006/main" w="9525">
            <a:solidFill>
              <a:srgbClr val="8CC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A8BBD-42D1-4FBC-9396-6DA957C4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4AE39-4485-4436-9634-A0ED564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90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8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Spring Boot 3.4.5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C45A-26E7-4E71-B561-40C3F9D8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A709C-8998-47D8-9B84-DB3DCEA1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7F466-9B42-416F-94DB-0C1B8FC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REST · JPA/Hibernate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JWT y CSRF · Flyway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442CF-84BA-4BE7-8B50-E98B307F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E8C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35065-8BD1-48E8-9430-EBE47D8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32D00-A2CC-4626-B786-F1F3C869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PostgreSQL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E80CE-C3A8-4697-B3FF-0D89116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57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Volumen persistente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85D05-1FA9-4C8A-80DB-46D825A5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5105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77348D-D75E-4731-8580-F82C815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47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Integraciones externas controladas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718D72-5546-4CCD-A707-3803CB05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14"/>
          </a:bodyPr>
          <a:lstStyle xmlns:a="http://schemas.openxmlformats.org/drawingml/2006/main">
            <a:def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JSON.pe · SUNAT BETA · DIGEMID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DC0D9-9DCD-4D96-BEE1-207D90D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15025"/>
            <a:ext cx="861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8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Docker Compose coordina los servicios y sus healthchecks. El mismo conjunto se despliega en AWS EC2.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3FDD3-3B48-4BE8-A20C-B38A061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9E55D-6A57-4EA4-95A4-1F2C8D34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37697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BEDBA-90C6-4E5E-B695-1CFC5493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33B4B-4ADD-4EB1-81FF-50349C8C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F29BD-BF7F-474C-824B-C9F1730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funcional: alertas de inventario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5F4C7-7051-4BC2-BE70-981EFBB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interfaz convierte datos de stock y vencimiento en tareas concretas para el usuario.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7E7AC-D1EB-4DF4-A681-2208D6C2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C708-C4D7-4AB6-86C9-6FA0ED36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66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 riesgos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C139D-2A6B-4BFD-B89A-45584366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Distingue agotados, stock bajo, lotes vencidos y próximos a vencer.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8A15C-52D1-4FC6-A588-038BA77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6FF2A-6678-41A7-904E-65339AF2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 el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17613-FED2-4557-BBB6-480381B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Muestra producto, lote, fecha y cantidad para facilitar la revisión.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E0F13-BD15-4542-84EA-7183F2B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50C9D-7539-4445-AD76-557C855A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 la 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3D214-89C6-4090-9532-09C0672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Permite revisar el producto o iniciar la gestión de 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7E26AB-1455-4AFA-8D64-05349990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70675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E98F8-0434-43CB-9D22-0B3780B71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51f2411544856"/>
          <a:stretch xmlns:a="http://schemas.openxmlformats.org/drawingml/2006/main"/>
        </p:blipFill>
        <p:spPr>
          <a:xfrm xmlns:a="http://schemas.openxmlformats.org/drawingml/2006/main">
            <a:off x="5037402" y="2162175"/>
            <a:ext cx="5908146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7BBBE-83DC-4A6D-8FC1-3CB5A46A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2AEB9"/>
                </a:solidFill>
                <a:latin typeface="Arial"/>
                <a:ea typeface="Arial"/>
                <a:cs typeface="Arial"/>
              </a:rPr>
              <a:t>Captura real del módulo de alertas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17548-3DFC-47B0-917B-DFCC96C5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DBA38-1EA6-496D-935E-BE898403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806747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8F590-B210-415A-B3C3-45543A57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9647A-16AB-4F68-B3DB-8F960D0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4E125-7863-4B33-B7C3-5F71F073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SUNAT y DIGEMID en 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3AC32-65E4-43CA-9658-8DB0CEFC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Los módulos reproducen el flujo documental para pruebas y demostración académica.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A85E0-99EB-4376-A267-1C31E1C1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SUNAT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3D1B4-751B-4B64-AA6B-57F4E62B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 de XML UBL 2.1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Resumen diario de boletas UBL 2.0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Firma, estados, intentos y respuesta CDR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77F8E-74F3-4A28-A733-F20A545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4567C-D085-49FB-B7E1-4D48266D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DIGEMID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23FBE-32D8-4850-9D54-359260AD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 periódico de precios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Exportación de datos para revisión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 del resultado y constancia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B3908-241D-4040-943B-C5C82437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84536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validez externa requiere credenciales oficiales, certificado digital y aceptación de la entidad correspondiente.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3A4AC-F2B6-4E1F-A363-4F1D5A3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BF527-662F-4415-816E-B5503C6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0799361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26BCD-FAD8-4505-8D5D-D4F53703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5772-A923-4FAF-8A59-D7E16280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4F21B-B6E5-4956-ABCB-CBE9DD26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Calidad y 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C670E-7174-4D8F-BFE6-A093408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pruebas y los controles de infraestructura respaldan la demostración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5ECD-604A-4446-B9BB-BE51DDC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928C0-9305-4DF1-A0A4-E2FF9930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pruebas backend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09212-EBBC-472D-BA30-A29B5A29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Además: compilación Angular y healthchecks de los tres contenedores.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6EE6D-236E-4D65-BC2F-7855C3E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62ED3-9656-4540-9E6A-CA428F50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A3C20-7E5A-420E-BFD2-231BEAE8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9D723-AB79-4AD9-9C41-22F6F84D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Servicios y reglas de negocio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APIs, autenticación y permisos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17B74-E23D-4891-8BA7-2041968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20A6F-155A-4DE7-B396-10E1797D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83FB4-7425-402D-9F1E-CA76A68B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Compilación Angular correcta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Validaciones y mensajes controlados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A7444-595B-4308-923F-02856FD0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F309F-798C-4913-8D33-1EC23ECA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INFRAESTRUCTURA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F96D2-DD52-45CE-B2CD-079DAD0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Docker Compose y healthchecks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Demostración preparada para AWS EC2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F02D6-FC12-4605-8D86-DA8C28FF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81575"/>
            <a:ext cx="76962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33350" rIns="133350" bIns="1333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usa migraciones Flyway y el backend valida el esquema antes de iniciar.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36A04-1FF4-42C4-B853-7329CDB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6B26A-7586-4A6D-BAAC-CA78C11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33060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FF0FA-89BD-46BB-87E1-46E1313D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DB523-7350-4481-9807-B0A29FD6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7CFB-C245-4EAE-B577-51C6EEA3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BA035-4B03-4019-9EA6-9E502D6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5"/>
          </a:bodyPr>
          <a:lstStyle xmlns:a="http://schemas.openxmlformats.org/drawingml/2006/main">
            <a:def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8DE"/>
                </a:solidFill>
                <a:latin typeface="Arial"/>
                <a:ea typeface="Arial"/>
                <a:cs typeface="Arial"/>
              </a:rPr>
              <a:t>El sistema integra la operación farmacéutica y deja evidencia de cada movimiento relevante.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9E6B3-B8E4-4C81-B9EA-C1BE1CAD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DFE7E-D453-419F-AFE9-F9578068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3D9D7-4C8A-49FA-B332-16668897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Cada entrada, venta, devolución o ajuste conserva usuario, producto, lote y saldos.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EA5AE-B61E-4678-B489-D8C2DEA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3C148-D1BA-477A-8BEF-1E920BC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7C312-8F66-4457-ADDC-BFDEF1E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B70FA-A1F3-4FE3-86B4-20BFC90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FEFO, Kardex, conteo físico y alertas permiten detectar riesgos antes de que afecten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A24BB-41C2-4796-8756-E9D8BC5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046D0-7E7D-46B2-BDEC-71421BF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CD909-6D32-4A2B-8150-C00348C0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Operación integrada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2E2ED-AEA5-49FA-B0CE-0F6DFF5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Ventas, caja, compras, recetas y reportes comparten reglas y una base de datos común.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8C149-5AA8-47A6-ACBE-87C75BA9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96A4B-6B6E-4E4B-8249-581E8B85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71700"/>
            <a:ext cx="57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B3D28-C0AB-4CDC-9AD5-97B5D0C5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Demostración propuesta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93403-5E54-40BE-AFBD-B8BDD806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caja, registrar una venta, revisar Kardex y cerrar con arqueo.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8D4E1-C837-4D52-BD52-421979FC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B0C29-7AA6-493B-99BC-889CB2F4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41979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2026-10-19T03:26:16.4040000Z</dcterms:created>
  <dcterms:modified xsi:type="dcterms:W3CDTF">2026-10-19T03:26:16.4040000Z</dcterms:modified>
</coreProperties>
</file>