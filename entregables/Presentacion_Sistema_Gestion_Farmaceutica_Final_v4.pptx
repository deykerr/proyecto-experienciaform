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456909c51434f" /><Relationship Type="http://schemas.openxmlformats.org/officeDocument/2006/relationships/extended-properties" Target="/docProps/app.xml" Id="R9763440a0b7d4b77" /><Relationship Type="http://schemas.openxmlformats.org/officeDocument/2006/relationships/officeDocument" Target="/ppt/presentation.xml" Id="Reff2b165e1f3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44f26e234d4043"/>
  </p:sldMasterIdLst>
  <p:notesMasterIdLst>
    <p:notesMasterId xmlns:r="http://schemas.openxmlformats.org/officeDocument/2006/relationships" r:id="Rdc85449b6341474c"/>
  </p:notesMasterIdLst>
  <p:sldIdLst>
    <p:sldId xmlns:r="http://schemas.openxmlformats.org/officeDocument/2006/relationships" id="256" r:id="R52651b230c4a4182"/>
    <p:sldId xmlns:r="http://schemas.openxmlformats.org/officeDocument/2006/relationships" id="257" r:id="Ra3241de01af14703"/>
    <p:sldId xmlns:r="http://schemas.openxmlformats.org/officeDocument/2006/relationships" id="258" r:id="R8c5bae3dcd1343be"/>
    <p:sldId xmlns:r="http://schemas.openxmlformats.org/officeDocument/2006/relationships" id="259" r:id="R4b54cbf57e8846ea"/>
    <p:sldId xmlns:r="http://schemas.openxmlformats.org/officeDocument/2006/relationships" id="260" r:id="R886300dadc03430c"/>
    <p:sldId xmlns:r="http://schemas.openxmlformats.org/officeDocument/2006/relationships" id="261" r:id="Ra7133422e49041d6"/>
    <p:sldId xmlns:r="http://schemas.openxmlformats.org/officeDocument/2006/relationships" id="262" r:id="Rdc17cc91aca74d7a"/>
    <p:sldId xmlns:r="http://schemas.openxmlformats.org/officeDocument/2006/relationships" id="263" r:id="Rb35287b9135644cb"/>
    <p:sldId xmlns:r="http://schemas.openxmlformats.org/officeDocument/2006/relationships" id="264" r:id="R09ca99dd205944b7"/>
    <p:sldId xmlns:r="http://schemas.openxmlformats.org/officeDocument/2006/relationships" id="265" r:id="R9a32e478ac6d4547"/>
    <p:sldId xmlns:r="http://schemas.openxmlformats.org/officeDocument/2006/relationships" id="266" r:id="Ra723e42206a945f5"/>
    <p:sldId xmlns:r="http://schemas.openxmlformats.org/officeDocument/2006/relationships" id="267" r:id="R973d19f264dd44fd"/>
    <p:sldId xmlns:r="http://schemas.openxmlformats.org/officeDocument/2006/relationships" id="268" r:id="Rb556964ed53d446f"/>
    <p:sldId xmlns:r="http://schemas.openxmlformats.org/officeDocument/2006/relationships" id="269" r:id="Rb3d331c64010492c"/>
    <p:sldId xmlns:r="http://schemas.openxmlformats.org/officeDocument/2006/relationships" id="270" r:id="Rd66fef0328dd4be9"/>
    <p:sldId xmlns:r="http://schemas.openxmlformats.org/officeDocument/2006/relationships" id="271" r:id="R7eee5ecb63a743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cbd496ad5f4978" /><Relationship Type="http://schemas.openxmlformats.org/officeDocument/2006/relationships/slideMaster" Target="/ppt/slideMasters/slideMaster1.xml" Id="R4d44f26e234d4043" /><Relationship Type="http://schemas.openxmlformats.org/officeDocument/2006/relationships/notesMaster" Target="/ppt/notesMasters/notesMaster1.xml" Id="Rdc85449b6341474c" /><Relationship Type="http://schemas.openxmlformats.org/officeDocument/2006/relationships/presProps" Target="/ppt/presProps.xml" Id="Rb5c82f8417b54eb3" /><Relationship Type="http://schemas.openxmlformats.org/officeDocument/2006/relationships/tableStyles" Target="/ppt/tableStyles.xml" Id="R06d8b410be6c4c9a" /><Relationship Type="http://schemas.openxmlformats.org/officeDocument/2006/relationships/slide" Target="/ppt/slides/slide1.xml" Id="R52651b230c4a4182" /><Relationship Type="http://schemas.openxmlformats.org/officeDocument/2006/relationships/slide" Target="/ppt/slides/slide2.xml" Id="Ra3241de01af14703" /><Relationship Type="http://schemas.openxmlformats.org/officeDocument/2006/relationships/slide" Target="/ppt/slides/slide3.xml" Id="R8c5bae3dcd1343be" /><Relationship Type="http://schemas.openxmlformats.org/officeDocument/2006/relationships/slide" Target="/ppt/slides/slide4.xml" Id="R4b54cbf57e8846ea" /><Relationship Type="http://schemas.openxmlformats.org/officeDocument/2006/relationships/slide" Target="/ppt/slides/slide5.xml" Id="R886300dadc03430c" /><Relationship Type="http://schemas.openxmlformats.org/officeDocument/2006/relationships/slide" Target="/ppt/slides/slide6.xml" Id="Ra7133422e49041d6" /><Relationship Type="http://schemas.openxmlformats.org/officeDocument/2006/relationships/slide" Target="/ppt/slides/slide7.xml" Id="Rdc17cc91aca74d7a" /><Relationship Type="http://schemas.openxmlformats.org/officeDocument/2006/relationships/slide" Target="/ppt/slides/slide8.xml" Id="Rb35287b9135644cb" /><Relationship Type="http://schemas.openxmlformats.org/officeDocument/2006/relationships/slide" Target="/ppt/slides/slide9.xml" Id="R09ca99dd205944b7" /><Relationship Type="http://schemas.openxmlformats.org/officeDocument/2006/relationships/slide" Target="/ppt/slides/slide10.xml" Id="R9a32e478ac6d4547" /><Relationship Type="http://schemas.openxmlformats.org/officeDocument/2006/relationships/slide" Target="/ppt/slides/slide11.xml" Id="Ra723e42206a945f5" /><Relationship Type="http://schemas.openxmlformats.org/officeDocument/2006/relationships/slide" Target="/ppt/slides/slide12.xml" Id="R973d19f264dd44fd" /><Relationship Type="http://schemas.openxmlformats.org/officeDocument/2006/relationships/slide" Target="/ppt/slides/slide13.xml" Id="Rb556964ed53d446f" /><Relationship Type="http://schemas.openxmlformats.org/officeDocument/2006/relationships/slide" Target="/ppt/slides/slide14.xml" Id="Rb3d331c64010492c" /><Relationship Type="http://schemas.openxmlformats.org/officeDocument/2006/relationships/slide" Target="/ppt/slides/slide15.xml" Id="Rd66fef0328dd4be9" /><Relationship Type="http://schemas.openxmlformats.org/officeDocument/2006/relationships/slide" Target="/ppt/slides/slide16.xml" Id="R7eee5ecb63a743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4a946b86441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e89eef52be4632" /><Relationship Type="http://schemas.openxmlformats.org/officeDocument/2006/relationships/notesMaster" Target="/ppt/notesMasters/notesMaster1.xml" Id="R5e00d0158ddc42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6ba6d33c834884" /><Relationship Type="http://schemas.openxmlformats.org/officeDocument/2006/relationships/notesMaster" Target="/ppt/notesMasters/notesMaster1.xml" Id="Rc849b0d59f95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f60a9175fc42b3" /><Relationship Type="http://schemas.openxmlformats.org/officeDocument/2006/relationships/notesMaster" Target="/ppt/notesMasters/notesMaster1.xml" Id="R00f0484cb08c4c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c19fadd5ee4e16" /><Relationship Type="http://schemas.openxmlformats.org/officeDocument/2006/relationships/notesMaster" Target="/ppt/notesMasters/notesMaster1.xml" Id="R63f49e07f0334b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cf997ceb3e44ef" /><Relationship Type="http://schemas.openxmlformats.org/officeDocument/2006/relationships/notesMaster" Target="/ppt/notesMasters/notesMaster1.xml" Id="R889f839ad5e8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540ce3d1ba4c5b" /><Relationship Type="http://schemas.openxmlformats.org/officeDocument/2006/relationships/notesMaster" Target="/ppt/notesMasters/notesMaster1.xml" Id="Ra93a791b388b4e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959cb32cef4597" /><Relationship Type="http://schemas.openxmlformats.org/officeDocument/2006/relationships/notesMaster" Target="/ppt/notesMasters/notesMaster1.xml" Id="R4ae75538761d49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96ad2d39694e41" /><Relationship Type="http://schemas.openxmlformats.org/officeDocument/2006/relationships/notesMaster" Target="/ppt/notesMasters/notesMaster1.xml" Id="R1b36d13b536a41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3a7b582a25490f" /><Relationship Type="http://schemas.openxmlformats.org/officeDocument/2006/relationships/notesMaster" Target="/ppt/notesMasters/notesMaster1.xml" Id="R83e0afe9e14245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4ed44b07f54094" /><Relationship Type="http://schemas.openxmlformats.org/officeDocument/2006/relationships/notesMaster" Target="/ppt/notesMasters/notesMaster1.xml" Id="R77269e28e0c347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8414506ddd4f1d" /><Relationship Type="http://schemas.openxmlformats.org/officeDocument/2006/relationships/notesMaster" Target="/ppt/notesMasters/notesMaster1.xml" Id="Rb47e4ef747e04e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e7f365760b47e7" /><Relationship Type="http://schemas.openxmlformats.org/officeDocument/2006/relationships/notesMaster" Target="/ppt/notesMasters/notesMaster1.xml" Id="Rf561060c08b247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4012e2d3b34bb1" /><Relationship Type="http://schemas.openxmlformats.org/officeDocument/2006/relationships/notesMaster" Target="/ppt/notesMasters/notesMaster1.xml" Id="Rcbfa8948a8f24d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928db2502947b4" /><Relationship Type="http://schemas.openxmlformats.org/officeDocument/2006/relationships/notesMaster" Target="/ppt/notesMasters/notesMaster1.xml" Id="R6dce4887448b45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af7416803547db" /><Relationship Type="http://schemas.openxmlformats.org/officeDocument/2006/relationships/notesMaster" Target="/ppt/notesMasters/notesMaster1.xml" Id="R383e322e664a4c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ff8818dc67490e" /><Relationship Type="http://schemas.openxmlformats.org/officeDocument/2006/relationships/notesMaster" Target="/ppt/notesMasters/notesMaster1.xml" Id="Rc8a74c6223944b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0d94da4574a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736242c7e4f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7b255ee8240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ea6e1f23544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35ee99f1d4d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a31b2d8b74f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460DB3-BF05-4F5A-8749-0A4CB66CF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C8A0B4-7E7F-4617-840D-12B3F86143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124C24-EEC9-43F7-B412-AECF0D9055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735B48-2A76-4E00-A3D6-396632B1C5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2CEF61-8E2D-4D6D-BE08-0F04402939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98C55D-345C-4FDA-A591-61048D2961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2B65C-1F66-49F7-AC6F-9BCA7965F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111FF0-8C75-4F3C-9ECA-AFBDC1D230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7BEF76-1781-46CB-B552-BB7E2D6DA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70BC6E-70FF-4697-978C-ED8A0A685C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95a3778a1242a4" /><Relationship Type="http://schemas.openxmlformats.org/officeDocument/2006/relationships/slideLayout" Target="/ppt/slideLayouts/slideLayout1.xml" Id="R83912f118a504f75" /><Relationship Type="http://schemas.openxmlformats.org/officeDocument/2006/relationships/slideLayout" Target="/ppt/slideLayouts/slideLayout2.xml" Id="R34e73a8937e74815" /><Relationship Type="http://schemas.openxmlformats.org/officeDocument/2006/relationships/slideLayout" Target="/ppt/slideLayouts/slideLayout3.xml" Id="R8146210bfc6742a4" /><Relationship Type="http://schemas.openxmlformats.org/officeDocument/2006/relationships/slideLayout" Target="/ppt/slideLayouts/slideLayout4.xml" Id="Re9ad2cc9ec144b49" /><Relationship Type="http://schemas.openxmlformats.org/officeDocument/2006/relationships/slideLayout" Target="/ppt/slideLayouts/slideLayout5.xml" Id="R2e656fd12d27489e" /><Relationship Type="http://schemas.openxmlformats.org/officeDocument/2006/relationships/slideLayout" Target="/ppt/slideLayouts/slideLayout6.xml" Id="R6fc210f7110a49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12f118a504f75"/>
    <p:sldLayoutId xmlns:r="http://schemas.openxmlformats.org/officeDocument/2006/relationships" id="2147483650" r:id="R34e73a8937e74815"/>
    <p:sldLayoutId xmlns:r="http://schemas.openxmlformats.org/officeDocument/2006/relationships" id="2147483651" r:id="R8146210bfc6742a4"/>
    <p:sldLayoutId xmlns:r="http://schemas.openxmlformats.org/officeDocument/2006/relationships" id="2147483652" r:id="Re9ad2cc9ec144b49"/>
    <p:sldLayoutId xmlns:r="http://schemas.openxmlformats.org/officeDocument/2006/relationships" id="2147483653" r:id="R2e656fd12d27489e"/>
    <p:sldLayoutId xmlns:r="http://schemas.openxmlformats.org/officeDocument/2006/relationships" id="2147483654" r:id="R6fc210f7110a49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e8984d45a470f" /><Relationship Type="http://schemas.openxmlformats.org/officeDocument/2006/relationships/image" Target="/ppt/media/image.png" Id="R0419ad7eac0e4692" /><Relationship Type="http://schemas.openxmlformats.org/officeDocument/2006/relationships/image" Target="/ppt/media/image.jpeg" Id="Rc3b01471059c4ddd" /><Relationship Type="http://schemas.openxmlformats.org/officeDocument/2006/relationships/notesSlide" Target="/ppt/notesSlides/notesSlide1.xml" Id="R2120577b42df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f6b36fdd64d9d" /><Relationship Type="http://schemas.openxmlformats.org/officeDocument/2006/relationships/notesSlide" Target="/ppt/notesSlides/notesSlide2.xml" Id="R6d9527c9dc4f47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1b873f4b842a0" /><Relationship Type="http://schemas.openxmlformats.org/officeDocument/2006/relationships/notesSlide" Target="/ppt/notesSlides/notesSlide3.xml" Id="Re47d388d175f41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c3b1d6cdd4bf7" /><Relationship Type="http://schemas.openxmlformats.org/officeDocument/2006/relationships/notesSlide" Target="/ppt/notesSlides/notesSlide4.xml" Id="R9895a701cd9742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06f5f00c4b4b88" /><Relationship Type="http://schemas.openxmlformats.org/officeDocument/2006/relationships/notesSlide" Target="/ppt/notesSlides/notesSlide5.xml" Id="R0446bed198604e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42602239b43a5" /><Relationship Type="http://schemas.openxmlformats.org/officeDocument/2006/relationships/notesSlide" Target="/ppt/notesSlides/notesSlide6.xml" Id="Rd909d96d5ecb42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574d52e5c4525" /><Relationship Type="http://schemas.openxmlformats.org/officeDocument/2006/relationships/notesSlide" Target="/ppt/notesSlides/notesSlide7.xml" Id="Rd1f185ead4d949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a7f5f4187493c" /><Relationship Type="http://schemas.openxmlformats.org/officeDocument/2006/relationships/notesSlide" Target="/ppt/notesSlides/notesSlide8.xml" Id="R0ddbc3b34b384c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cf0ed1f494be2" /><Relationship Type="http://schemas.openxmlformats.org/officeDocument/2006/relationships/notesSlide" Target="/ppt/notesSlides/notesSlide9.xml" Id="R3c1ebd60b3b84e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2573639e84fd3" /><Relationship Type="http://schemas.openxmlformats.org/officeDocument/2006/relationships/notesSlide" Target="/ppt/notesSlides/notesSlide10.xml" Id="Rfd7d35a81bc443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f8aa2096324895" /><Relationship Type="http://schemas.openxmlformats.org/officeDocument/2006/relationships/notesSlide" Target="/ppt/notesSlides/notesSlide11.xml" Id="R80de9674b70846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050c234de4185" /><Relationship Type="http://schemas.openxmlformats.org/officeDocument/2006/relationships/image" Target="/ppt/media/image2.png" Id="R549780c280194d2b" /><Relationship Type="http://schemas.openxmlformats.org/officeDocument/2006/relationships/notesSlide" Target="/ppt/notesSlides/notesSlide12.xml" Id="Rc6c3d7b3292549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c3b27b60f48e0" /><Relationship Type="http://schemas.openxmlformats.org/officeDocument/2006/relationships/notesSlide" Target="/ppt/notesSlides/notesSlide13.xml" Id="R6a1fb2f0486b4c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1eab02e6ed4c75" /><Relationship Type="http://schemas.openxmlformats.org/officeDocument/2006/relationships/notesSlide" Target="/ppt/notesSlides/notesSlide14.xml" Id="R75964b7ea9c149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f98c615bf4131" /><Relationship Type="http://schemas.openxmlformats.org/officeDocument/2006/relationships/notesSlide" Target="/ppt/notesSlides/notesSlide15.xml" Id="R5155011c845745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d757765484959" /><Relationship Type="http://schemas.openxmlformats.org/officeDocument/2006/relationships/notesSlide" Target="/ppt/notesSlides/notesSlide16.xml" Id="R889a027c4fef46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45F32-913C-4D39-996B-E32DA8A57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9ad7eac0e4692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9D12F-2A48-43D6-8BCF-F7FD7E79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9E653-C07F-42B6-8B5F-E90ADCEE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D492B-E565-414F-AF08-B4B44759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762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7EE9E-994F-4F45-84FE-AE0E66E3C6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01471059c4ddd"/>
          <a:stretch xmlns:a="http://schemas.openxmlformats.org/drawingml/2006/main"/>
        </p:blipFill>
        <p:spPr>
          <a:xfrm xmlns:a="http://schemas.openxmlformats.org/drawingml/2006/main">
            <a:off x="876300" y="440924"/>
            <a:ext cx="1143000" cy="5659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6CDE0-CA76-4D46-9F9F-A0553C6D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4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PRESENTACIÓN DEL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9CC5E-CA9B-4778-9FC5-B2607058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web de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gestión farmacéutica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EF138-E376-4532-B35D-BFFF652E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7E5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5EA"/>
                </a:solidFill>
                <a:latin typeface="Arial"/>
                <a:ea typeface="Arial"/>
                <a:cs typeface="Arial"/>
              </a:rPr>
              <a:t>Proyecto aplicado a la Botica Virgen del Carmen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0CDB4-01B7-4E23-B7DF-BBDECF02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Angular 18 · Spring Boot 3.4.5 · PostgreSQL 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176C3-1C8B-4763-B209-7B76E18F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Jhosetd Deyker Gamboa Quispe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C3D4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3D4DB"/>
                </a:solidFill>
                <a:latin typeface="Arial"/>
                <a:ea typeface="Arial"/>
                <a:cs typeface="Arial"/>
              </a:rPr>
              <a:t>Juan Carlos Florez Pareja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D99EF-D99A-4506-9C38-6ED1192B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72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8FAAB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FAAB6"/>
                </a:solidFill>
                <a:latin typeface="Arial"/>
                <a:ea typeface="Arial"/>
                <a:cs typeface="Arial"/>
              </a:rPr>
              <a:t>Ingeniería de Sistemas de Información · VIII ciclo · 2026</a:t>
            </a:r>
          </a:p>
        </p:txBody>
      </p:sp>
    </p:spTree>
    <p:extLst>
      <p:ext uri="{BB962C8B-B14F-4D97-AF65-F5344CB8AC3E}">
        <p14:creationId xmlns:p14="http://schemas.microsoft.com/office/powerpoint/2010/main" val="718595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9456F-F837-4372-A7A1-CB76A096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F2B21-372D-4E33-B606-8A7AD46E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452EF-1C4E-4FEF-824F-D90E6505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AD182-3F07-4DEF-BD1F-0A295EB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200150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operación pierde confiabilidad cuando cada proceso conserva información separada.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53206-9027-477F-9B35-EF2AF540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Problema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DF486-DE0D-45DF-BE18-DB34AD9D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6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El stock registrado no siempre representa lo que existe físicamente.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FF7F6-E17B-4AEE-84AC-A63519F6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falta de control por lote afecta la atención, la trazabilidad y la detección oportuna de vencimientos.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22D04-679F-43DB-BA8B-BDA0AE78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65D6D-0506-4B35-8544-AF059B09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E20B2-06A6-4089-B86A-069819AE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Stock incierto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7381F-5F1B-4E8B-AAC6-56C64CA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Diferencias entre el sistema y el anaquel.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1D1F-4759-40D2-8588-802643AC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6DA29-8519-4531-A64D-B6511197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Vencimientos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220C3-5E4D-4BD0-AAB2-5B84928B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Alertas tardías y productos que pierden valor.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0CDFA-6531-442E-BF24-EE27D930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15758-AF63-4D93-A351-C3D6AE3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Procesos aislados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076E0-C1D8-4951-AACD-3DBB2EBE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Ventas, caja, compras e inventario sin trazabilidad común.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60682-9E0A-4FEB-9347-93A1A79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958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0D5AD-E764-4E57-8785-00BD3BA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Reportes manuales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B04F5-2021-4DD4-AED6-F44D5390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578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Más tiempo para verificar información y preparar evidencias.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0DA56-D4A1-4C77-93AF-6DCFF0E7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982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85855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Objetivo: controlar ventas, caja e inventario por usuario, producto y lote.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903E7-F3B6-44D6-BE3B-77FF8AAF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1215B-2A47-44CB-8A38-AE52A801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690290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F0E8E-BEB7-48C0-A479-EF20EA1A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8F215-E4E1-45CA-8365-88F17EE6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D60C3-150E-4399-8181-1FF830A2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Stakeholders del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961DF-AE36-498C-8A94-4FDEB9B2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58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El sistema responde a necesidades operativas internas y a obligaciones externas de información.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745A5-E19E-4C06-A02E-72A168A7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INTERNOS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EA563-F977-4E77-A43F-16F6FDDA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D049F-0394-4077-A585-4AB24296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Propietario / administrador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D69E0-070A-44AC-8079-5D48D069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Control de operación, usuarios, cajas y reportes.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2D910-66FB-4A3E-BCEA-9A6B27F2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35A37-1ACC-4904-AD4E-1D45D494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Cajero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BFF35-CA1C-47EC-806A-A6A31A6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Venta rápida, identificación del cliente y arqueo confiable.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1A7F3-EEFC-4FCB-9F49-721CE2BD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9B6D7-387C-461E-ABDB-0B4AFF3D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Almacenero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5BD0F-D4DA-468A-BBCD-4A906C7B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Compras, lotes, vencimientos, conteos y alertas.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1B500-48D7-4BC7-BD41-92F76482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47875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944D7-84CF-4D1F-91F1-D8C88CD4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EXTERNOS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F3DBE-0F6E-4882-93F1-E07AD062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66B52-40B0-4947-B033-91989E2D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Clientes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95327-D03C-407D-82E8-B574756B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Atención ágil, datos correctos y comprobantes claros.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9E0DF-3EB5-4355-8DD3-2CA7CC99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5EB34-D3B6-4F0F-BA02-8F51AC31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Proveedores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F1B2F-7E06-45C1-A051-D8EC9A6B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005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Órdenes, recepciones y devoluciones trazables.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59B2D-BC4B-4A63-BC06-5ACA0BFE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B38E9-DD04-4B57-B92B-B0B7F2E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SUNAT y DIGEMID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12DAD5-DA00-4501-9C6C-DBF9F571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Documentos y reportes preparados según el flujo requerido.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3CAFCF-132E-431C-8311-F30F8DDA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86504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propietario concentra la decisión. Cajeros y almaceneros sostienen la operación diaria.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CB278-157A-43D8-A4F1-17B1A1E5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17CB6-049F-4FE7-9AF6-E17E08B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344843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7A3164-2120-46A9-8A3F-4AB617A0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8279E-0E60-4407-90B6-7CCAEFC8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2C281-2D76-4858-AAC8-AA56928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Requisitos funcionales principales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7CD1B-BC78-4E51-8279-0E271DF6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funciones cubren el ciclo completo desde el abastecimiento hasta el cierre de caja.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B39F0-E3CB-4999-8410-16838FBA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DC767-D4BB-47E0-875F-054EE1A2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57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Acceso y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3295F-27E2-403A-96FB-4222D1DE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90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Autenticar usuarios y restringir funciones por perfil.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BD32F-99E4-42EC-BD19-EC4E3ED2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765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E1FEC-9D4C-49C8-8888-E4F6BE94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15931-5EA5-4D48-A629-444201B8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19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Datos maestros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60B6B-7CDB-4396-853B-B6CAAE56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Gestionar productos, clientes, proveedores y catálogos.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40BDF-83C8-4C40-9E49-D6481E42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38575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1A634-5133-4C49-A0D3-89E398A4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7FB32-46B4-4222-989A-7AD12D53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81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Compras y recepción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8DDBE-3D84-43EF-BDA6-968C56CD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1482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Registrar comprobantes, lotes, costos y devoluciones.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1BE04-EA2B-4E84-8FC9-F405AC7B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E56994-F232-4D05-8E18-C5D9AF2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RF04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588BA-76B7-490C-8DF4-021F7A5D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434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18B3E-1E02-43AA-97B2-531D3D12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Controlar stock, vencimientos, Kardex y conteo físico.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D422D-1C0D-4151-9C0C-69E0DBFD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526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2778E-2096-4AB2-BFED-E6539C49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055D5-98C7-4858-B18F-2EEB099E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574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Punto de venta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D3DCE-694E-4ED5-BC50-B1FD8F0E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9077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Registrar ventas, pagos, clientes y comprobantes.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59B27-4A11-454B-B474-4A617218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82D2C-356D-4392-BCC1-7E8BA9AF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5469D-E6FD-40B6-BF6C-E94B1161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Caja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C820F-324D-4B03-8C50-BF6D79C5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Abrir, registrar movimientos, arquear y cerrar sesiones.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F0EA8-87E4-485E-B355-56DFD14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3927F-0A5F-40DE-A280-BD899459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F91A3C-8391-434A-8AE6-5E483E96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Reglas farmacéuticas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E7037-E37D-4CF8-98D2-3659C190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14825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Validar receta, condición de venta y salida FEFO.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FF91A9-2ADE-461E-8ED0-509CEC1D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006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5B2C3-79E5-4796-B368-2373776A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434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RF08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CD0BC9-90B5-4C5C-A147-91B3EC9D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434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Alertas y cumplimiento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5F8FA3-8E1C-4C4E-940C-F65515CC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Informar riesgos y preparar SUNAT y DIGEMID.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077488-5841-4E85-8B15-479132E4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72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Los requisitos se conectan: una venta válida modifica stock, Kardex, caja y documento.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349599-06CD-4E62-9092-0C3FB7BE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98C63C-AAAC-42FD-808D-57DFE56F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2100497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42556-CF02-4C31-A2AF-AD264162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B82BE-6110-4A07-BF29-1C41CBD1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49DC6-9232-464A-93D4-42A33078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Requisitos no funcionales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36AC9-5C7C-43FD-8211-D256A625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26"/>
          </a:bodyPr>
          <a:lstStyle xmlns:a="http://schemas.openxmlformats.org/drawingml/2006/main">
            <a:def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La calidad del sistema depende de proteger los datos y conservar operaciones consistentes.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EC9E2-C615-4D84-ABA7-0F3EB331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DB4F8-61C6-4D14-BF8D-9FBB7E9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789D6-4249-43F2-A81B-FD670027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JWT en cookie segura y protección CSRF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06156-4265-46F2-91B4-794FAB3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EC5A5-1C96-4EDC-A55A-4B8AB5C7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Contraseñas BCrypt y permisos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665C7-9C26-4B6D-BCD8-13CE77A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E4329-62F0-40BF-9A48-C58F0A20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INTEGRIDAD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DB6EC-F5A9-4245-BAC5-16449354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Transacciones atómicas e idempotencia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0F5FD-6B29-4769-8F18-C96ED09E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1AD1A-27CA-4A0B-9E9B-C08F32D2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Bloqueo de stock y validaciones de negocio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9DC72-AFCB-4D5E-A24C-4174DAE9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F0D7C-06B2-4CBF-AD78-7F0BAF0F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MANTENIBILIDAD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0C4B-2AFA-4548-B0FF-0499A9EC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por capas y DTO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3E299-8757-4149-BF7A-99F4F10B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DF25B-0EF6-4356-8059-1EBC76D3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Flyway, perfiles y variables de entorno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87B86-B3B5-42AB-B5FC-C0400185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0AAD9-47C7-4783-9A6D-99AD3F29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D7CAC-5454-4A00-9EE9-8A0DA38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Healthchecks y reinicio controlado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60FA24-64EC-452D-8D61-069B3683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E552C-E802-4EF1-873D-FAA4F815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86250"/>
            <a:ext cx="2324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B9CD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DD5"/>
                </a:solidFill>
                <a:latin typeface="Arial"/>
                <a:ea typeface="Arial"/>
                <a:cs typeface="Arial"/>
              </a:rPr>
              <a:t>Datos persistentes en volumen 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35892-00F2-45BB-BCD7-39B7FB75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La instalación debe repetirse en local y EC2 sin incluir secretos en el código fuente.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189F7-5B99-4A9A-B734-0D405B9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57AFA-FDB1-4D66-9760-9350923D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191131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812B5-43CA-46F4-81AA-99B6984400B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591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0DFB0-8163-4DB6-918C-E3706D010F8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340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76CDB-C0BF-4FA1-AA74-7486FE64382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76550" y="3600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FD2D7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D74566-F006-4261-868F-65AE9ED2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AC18F-CCA7-42B0-A35F-C6B0298C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0D36C-D77D-4A30-9893-A6B7B989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Solución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BB972-EDFE-43DE-AE7F-47034825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917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Una plataforma web que integra la operación diaria y conserva el origen de cada movimiento.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4CE33-2BBC-435D-BC17-0DF40F4B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2E99F-D4FE-48BC-AD14-AE750551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FB7F6-B430-442E-AA1E-128050BE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ABASTECIMIENTO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F9DC-1A41-49CD-9818-AFC096A1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88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Compra, recepción y devolución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815B4-015C-4B7E-A98A-36B525D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F51B9-D4C1-473B-B7AF-632895D3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31934-4F2D-4727-9007-C54BB843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INVENTARIO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AEB34-9716-4598-A179-69A51504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Lotes, FEFO, Kardex y conteo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6174A-C4E2-47EE-80F9-67FC63F5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6284A-16F6-41D7-95F5-E21604C4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17C5F-91F7-451F-A7CC-2A14033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VENTA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A60B3-F36C-4E7A-993E-D6F61036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POS, cliente, receta y pagos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811E2-9757-404D-9754-8E3A2DF5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5924B-D6D0-49A6-B8B2-E345CF73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209550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C8D49-A253-4838-8E40-B807E14A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CAJA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746F3-7650-4CE7-991E-DACFF64C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33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Apertura, movimientos y arqueo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74BC0-9719-4E17-9D78-E5C29775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Control transversal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E04B98-8A1F-4D4A-97A7-A3247958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0CBE6-C465-493B-94CD-5545A3DF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Roles y permisos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DE355D-70BC-40FC-8C85-B692DA77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6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Alertas y reportes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130A8C-F41A-4865-9326-9DFFE245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6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Auditoría de movimientos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A6B31-AD70-42BB-AA22-9ADFEC45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6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Integraciones controladas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DD9D1B-B737-4D9E-87E2-2BCF814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F015C-715C-4E55-A627-0AF0EEAB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606349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EC6E6-E3DB-44E4-8811-6CABE115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A76D-FA7A-41D8-B3F4-B02D886C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9FF86-852C-4EA3-A024-37498B8F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Usuarios y 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567E6-F651-4CCC-8D74-45B58CA1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Cada rol accede únicamente a las funciones necesarias para su trabajo.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46563-DF01-413C-956B-4D79D85F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1F84D-3EB6-4903-B7F2-EFAE3C8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Configura usuarios y catálogos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Supervisa cajas e inventario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Consulta reportes y cumplimiento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015C8-9FAD-4EEE-B2E0-5319CE5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F6A68-3D74-4069-9CBC-84C68EE2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CAJERO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3C32A-66DA-4AD1-A258-E90D653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Abre y cierra su caja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Registra clientes y ventas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Procesa pagos y comprobantes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279B0-42FD-434E-B051-D679391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71FDC-E67D-4BAF-B579-C24B91F1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ALMACENERO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35A3E-BDB3-4BCE-8E27-F1380DB7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Gestiona productos y lotes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Recibe compras y devoluciones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Realiza conteos y revisa alertas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3289B-87C5-474D-8D46-BF6EEBD9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Todas las operaciones quedan asociadas al usuario autenticado y a su 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CE17A-5377-4E5A-9302-ABCC1908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647A-20EC-4897-813A-2716DE4B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593208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BD4DD5-A4D4-441C-A7CB-E338ADE7BF58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678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A07ADA-5EC5-4BA2-ADEB-38CA2AB4745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628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B18E6-A507-4AD2-B242-995751F6CD9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5775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1521F-9D0B-4497-8E5A-8151A4341C6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552700" y="37528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483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06E99C-60DB-4B8D-969B-D0109DB4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93B81-2253-4C4A-A327-C3BE643D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49DF6-5117-4169-B7C8-181057A7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Flujo operativo integrado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91F23-41E0-44A7-8FA7-79CC3A81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4D7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D7DE"/>
                </a:solidFill>
                <a:latin typeface="Arial"/>
                <a:ea typeface="Arial"/>
                <a:cs typeface="Arial"/>
              </a:rPr>
              <a:t>El sistema valida cada etapa antes de actualizar inventario, caja y documentos.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3F3C4-F30E-42FB-B484-34B9F50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9D3C6-6AAB-4781-8B0A-A7F1D64E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A6531-6F7E-4CA9-81AB-D7F4AD8A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23832-FE47-4086-9F71-B7E5CC10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2C4B3-FE4B-46EC-9236-B12D3BBB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Sesión y permisos por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347B1-CBF9-4480-A17E-D956EB37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773AB-D631-4B2D-954B-ABB7C19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F4779-2DA0-46AB-BB13-5C81CC3F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79F7B-A947-4623-A90F-64200E63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00528-3D89-4543-8352-B65F0A8F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Público general, DNI o RUC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BA06E-06D2-4170-85E1-92C9176F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57FF7-8551-4BAB-AA62-7E61B909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04C0A-3675-49BB-B7AF-90CA2009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59C28-77F1-4373-8241-70EE80FC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72837A-70AE-4CDF-98DC-53925879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Stock, lote y condición de venta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DDAFB-B601-4E1B-BEA1-A315F3AA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69B92-4B89-4B23-9D3D-5FC14F4F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039E3-A9CB-4B57-B4B2-9C912864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674B6-99AD-4177-8891-BE94D19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Validación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39F6C-02C5-41CE-A028-C3B21720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Caja, receta, pagos y FEFO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76C15-A88C-4C93-B86A-F57592AC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9043A-4E70-47F5-8C1F-67261ABF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CD445-8C2D-4FA6-8CE6-1F9CABB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9621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3B"/>
          </a:solidFill>
          <a:ln xmlns:a="http://schemas.openxmlformats.org/drawingml/2006/main" w="9525">
            <a:solidFill>
              <a:srgbClr val="3656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F5CD0-58AB-4600-BFA5-C57EE001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146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6046A-60A7-41E1-82FA-A2EBE2D1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Kardex, comprobante y alertas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0D254-246F-4392-AF1D-5EF7A74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 una regla falla, la transacción se revierte y no deja registros parciales.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3A7E67-0B08-4F1C-9018-D7DD7A67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4B4B82-E162-46BD-8EA7-1C991493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4813099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F48B1E-6A07-422C-BE6A-931227F82876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238625"/>
            <a:ext cx="857250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FD2D7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71B20B-4512-4FAB-A57E-8C52B9E549E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9150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85614-EFA4-4A33-9A9C-8DAAF511186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F7C7A-F8AB-4070-BD2B-8C035D95432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90750" y="3095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C72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EAE12-4140-404A-97EC-0A0F6E75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D9ECB-935C-4366-9F38-F67F371F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5940F-9BF7-4C0D-B897-F6AB5F9D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Arquitectura y tecnologías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8BA89-A065-4E24-958D-00B76574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Arquitectura cliente servidor desplegada con contenedores y configuración por entorno.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03156-2672-47BB-8B86-1043B3F2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52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7F6"/>
          </a:solidFill>
          <a:ln xmlns:a="http://schemas.openxmlformats.org/drawingml/2006/main" w="9525">
            <a:solidFill>
              <a:srgbClr val="BF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96837-E4D6-45A7-AA7A-BF5948D3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USUARIO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B5782-C924-4AB3-AB32-A392AEB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Navegador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E4EB8-4C0E-4B73-8BA9-0F846FD5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2190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82CD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8FD41-7D1F-4DAE-88D1-40F468EB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61055-5C3F-4995-97BA-E0A2B7A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Angular 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60F6D-6379-4DEE-B70C-7DE396BC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Nginx publica la interfaz y enruta las solicitudes /api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982F2-A1AB-42F3-A269-C52929E3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24765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6F4FB"/>
          </a:solidFill>
          <a:ln xmlns:a="http://schemas.openxmlformats.org/drawingml/2006/main" w="9525">
            <a:solidFill>
              <a:srgbClr val="8CCB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322F7-5626-4B0B-98FE-CADCCC3E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EF25A-8EDE-4A32-A96B-441D029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908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8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Spring Boot 3.4.5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F19CF-8708-4771-85A7-6A579F89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90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779"/>
                </a:solidFill>
                <a:latin typeface="Arial"/>
                <a:ea typeface="Arial"/>
                <a:cs typeface="Arial"/>
              </a:rPr>
              <a:t>Java 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BC928-6F1A-4F8E-9C70-A6E91E01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A8FBC-161A-443D-9EE9-717CD9A0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REST · JPA/Hibernate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JWT y CSRF · Flyway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57158-3387-46E9-9AEB-19F24D82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476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E8C5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08E52-B2E6-4858-B434-BB67B1BE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36BA2-142D-4384-93F4-02A4876C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90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PostgreSQL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7E936-CD12-4A2C-B9B7-C83D20B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57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Volumen persistente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8E545-01C1-4F62-8E53-41F018E7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5105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630A86-8735-4A6D-9F91-250F4745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720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47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Integraciones externas controladas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1065A7-04D4-453F-9CE8-A67B9677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14"/>
          </a:bodyPr>
          <a:lstStyle xmlns:a="http://schemas.openxmlformats.org/drawingml/2006/main">
            <a:def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JSON.pe · SUNAT BETA · DIGEMID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B4CA9A-163D-48F9-A475-6A413B94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15025"/>
            <a:ext cx="861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08"/>
          </a:bodyPr>
          <a:lstStyle xmlns:a="http://schemas.openxmlformats.org/drawingml/2006/main">
            <a:def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Docker Compose coordina los servicios y sus healthchecks. El mismo conjunto se despliega en AWS EC2.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F37B5-DCDA-4545-936B-ECC7AA2E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E25928-EBFA-4367-8E4D-ED0A5AF0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4715983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9D810-6A11-4BCD-83A2-B346342F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80086-5403-42E8-B77B-E4FE1594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A744B-FB6B-4C95-AE2D-091283FD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Normalización de la 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F0AEB-6D69-465B-B739-3E7E2618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El modelo separa cada concepto para evitar duplicidad y mantener relaciones verificables.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B0408-F147-472E-921B-63735925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1FN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E3B4E-2670-4B10-A08C-6B25F1D2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43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Datos atómicos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CE9A7-6304-47C1-99AC-8043BA6E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Cada campo contiene un solo valor. Los productos de una venta ocupan filas de detalle independientes.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6FFF7-C542-4194-8567-C17F8338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00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2DFFB-8A5F-452C-BB96-331C4FB9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2FN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F1BA7-6728-4EEE-9F04-2C7908E3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242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Dependencias completas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6EF5C-4EB6-4441-AD07-77450DA3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147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 cabecera conserva fecha, cliente y estado. Cantidad y precio permanecen en el detalle de venta.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6633C-1F83-4E83-848E-D7D0E5B9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815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174FC-917C-4DD4-9943-7E61CEED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3FN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797B2-9637-4465-BB8F-204B88E3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053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Sin dependencias transitivas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62214-9EC3-4B7D-BF30-8532E65A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958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Clientes, productos, laboratorios y categorías tienen tablas propias y se relacionan mediante claves foráneas.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7218A-3DF7-4A93-A205-48DFB081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05CA1-DDCB-4618-8A8F-135CAEF9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431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Aplicación en el proyecto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2A528-13E2-4388-AE61-7DA159E9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717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VENTAS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C9DEC-38AD-41F1-8581-6E1ACF9A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7177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cabecera y estado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CE91A-B6F3-4EBB-8AB7-98155FFD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DETALLE_VENTAS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3A70C-F572-4FFF-8F1E-EB17F96F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56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producto, lote, cantidad y precio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0219B-A723-4EA5-8D14-F0C0D2AA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957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LOTES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8AA31-19D9-466F-88C2-96131E48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9572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vencimiento y saldo disponible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ECB71-CD61-4178-A30D-F953F5F2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PAGOS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D6FD2-8D95-45DF-8C64-584F9A09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57700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método, monto y caja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2F101-56CD-4FE8-A41D-4EAA63C5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96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MOVIMIENTOS_INVENTARIO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9DAAB5-6060-49F5-9F5A-66B7A5BB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19675"/>
            <a:ext cx="2238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21"/>
          </a:bodyPr>
          <a:lstStyle xmlns:a="http://schemas.openxmlformats.org/drawingml/2006/main">
            <a:def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B3A"/>
                </a:solidFill>
                <a:latin typeface="Arial"/>
                <a:ea typeface="Arial"/>
                <a:cs typeface="Arial"/>
              </a:rPr>
              <a:t>trazabilidad de entradas y salidas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C4CB0F-FED8-4681-96AE-93894CB6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93345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78568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Resultado: menos repetición, actualizaciones coherentes y auditoría por entidad.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6D187-89A8-4247-892E-3E7ABD3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540CD-0F27-4446-9908-6FCE5B38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5990707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1F5BD-5A44-48ED-885C-4DA204E1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B895C-1DC5-4BFC-A7E9-5700CA80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5E213-14BB-462F-9C38-C21CCB6D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Ejemplo de normalización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3C21E-0DC5-4BE4-8DAF-1919256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5"/>
          </a:bodyPr>
          <a:lstStyle xmlns:a="http://schemas.openxmlformats.org/drawingml/2006/main">
            <a:def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Una venta con varios productos ya no repite los datos del cliente ni mezcla stock con comprobantes.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24A50-0D4D-4D27-ADAF-66BCBCA3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ANTES: VENTA_DESNORMALIZADA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059E7-E6AB-4BB8-8ED3-CDF2AC97E603}"/>
              </a:ext>
            </a:extLst>
          </p:cNvPr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4953000" cy="2419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1381125"/>
                <a:gridCol w="2047875"/>
                <a:gridCol w="742950"/>
              </a:tblGrid>
              <a:tr h="6048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Venta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 / lote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Cant.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71C2C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1001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Juan Flores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77777777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Paracetamol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L-PARA-001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1001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Juan Flores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77777777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Alcohol 70%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L-ALC-001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1002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Público general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Paracetamol</a:t>
                      </a:r>
                    </a:p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L-PARA-001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83962-D6F3-4404-93BA-2406C5CF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Problema: cliente, producto y lote se repiten en cada línea.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F747D-D29B-42E5-BD4B-F298CCA3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DESPUÉS: TABLAS RELACIONADAS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8C180-7034-454A-8E4A-6BDCF50BAA39}"/>
              </a:ext>
            </a:extLst>
          </p:cNvPr>
          <p:cNvGraphicFramePr/>
          <p:nvPr/>
        </p:nvGraphicFramePr>
        <p:xfrm>
          <a:off xmlns:a="http://schemas.openxmlformats.org/drawingml/2006/main" x="6191250" y="2352675"/>
          <a:ext xmlns:a="http://schemas.openxmlformats.org/drawingml/2006/main" cx="539115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1352550"/>
                <a:gridCol w="2362200"/>
              </a:tblGrid>
              <a:tr h="5207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Tabla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Clave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BFD2D7"/>
                      </a:solidFill>
                      <a:prstDash val="solid"/>
                    </a:lnR>
                    <a:lnT w="9525">
                      <a:solidFill>
                        <a:srgbClr val="BFD2D7"/>
                      </a:solidFill>
                      <a:prstDash val="solid"/>
                    </a:lnT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0F7C72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CLIENTES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PK id_cliente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Identidad y documento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VENTAS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cliente_id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Cabecera, fecha y estado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DETALLE_VENTAS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venta_id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Lote, cantidad y precio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PRODUCTOS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PK id_producto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Descripción y precio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LOTES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BFD2D7"/>
                      </a:solidFill>
                      <a:prstDash val="solid"/>
                    </a:lnL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FK producto_id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B3A"/>
                          </a:solidFill>
                          <a:latin typeface="Arial"/>
                          <a:ea typeface="Arial"/>
                          <a:cs typeface="Arial"/>
                        </a:rPr>
                        <a:t>Vencimiento y stock</a:t>
                      </a:r>
                    </a:p>
                  </a:txBody>
                  <a:tcPr marL="76200" marR="76200" marT="47625" marB="47625" anchor="ctr">
                    <a:lnR w="9525">
                      <a:solidFill>
                        <a:srgbClr val="BFD2D7"/>
                      </a:solidFill>
                      <a:prstDash val="solid"/>
                    </a:lnR>
                    <a:lnB w="9525">
                      <a:solidFill>
                        <a:srgbClr val="BFD2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4D47E-080A-45E3-868E-D3240202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444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Cada dato se guarda una vez y las claves foráneas mantienen la relación.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AE073-69D9-41CA-8DB2-DA19E7A8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2197D-DC95-4A9D-922C-470B5EAF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609691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2FCA5-76EB-4905-BCB7-7ACAD0C0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8F92D-1BD3-4060-8841-828799A4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75905-A033-4BDC-B264-DA9D802C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Evidencia funcional: alertas de inventario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7FEE4-922F-4BA2-AF69-79E92693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La interfaz convierte datos de stock y vencimiento en tareas concretas para el usuario.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3081-7649-400F-9BED-7C0DDAA0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C95F-C25C-44CC-A42A-46DFC834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66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Prioriza riesgos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3D266-80F8-46EF-9C4A-4494E328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Distingue agotados, stock bajo, lotes vencidos y próximos a vencer.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57E86-36CB-4256-BAE2-7DA4501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385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52537-CECF-4C22-9A28-B3135512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Conserva el 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33F3F-743C-43D7-94D1-D4818981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95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Muestra producto, lote, fecha y cantidad para facilitar la revisión.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5E340-E1EF-415A-BFA8-16045131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A5F3D-78B8-4A15-8BEC-03A113AE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33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Orienta la acción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675AD-16F5-43A5-8DA3-BCB9B3D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6CB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BD4"/>
                </a:solidFill>
                <a:latin typeface="Arial"/>
                <a:ea typeface="Arial"/>
                <a:cs typeface="Arial"/>
              </a:rPr>
              <a:t>Permite revisar el producto o iniciar la gestión de compra.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6F2BC-5583-48FA-887D-1D7B3789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70675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C4BF2-98F3-4478-A088-279DED3BB6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780c280194d2b"/>
          <a:stretch xmlns:a="http://schemas.openxmlformats.org/drawingml/2006/main"/>
        </p:blipFill>
        <p:spPr>
          <a:xfrm xmlns:a="http://schemas.openxmlformats.org/drawingml/2006/main">
            <a:off x="5037402" y="2162175"/>
            <a:ext cx="5908146" cy="38671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DC8C8-A38A-462C-B592-D14CBB55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1722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92AEB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2AEB9"/>
                </a:solidFill>
                <a:latin typeface="Arial"/>
                <a:ea typeface="Arial"/>
                <a:cs typeface="Arial"/>
              </a:rPr>
              <a:t>Captura real del módulo de alertas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4D92B-2214-472B-95C5-4941E58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845B6-AA16-4B03-8EC2-1606C76A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4099792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CD9C1-593B-4E94-808F-C4957141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FB396-DA81-4746-94B2-65D45803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48E30-3CC6-4509-907D-CFF7F18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SUNAT y DIGEMID en 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DE7CD-55C3-4268-9942-85057FDF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5D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5D8DF"/>
                </a:solidFill>
                <a:latin typeface="Arial"/>
                <a:ea typeface="Arial"/>
                <a:cs typeface="Arial"/>
              </a:rPr>
              <a:t>Los módulos reproducen el flujo documental para pruebas y demostración académica.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712AA-0CC1-40FF-9802-365F250D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SUNAT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FDB3B-95C6-499B-A1FE-534EFBAE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Generación de XML UBL 2.1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Resumen diario de boletas UBL 2.0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Firma, estados, intentos y respuesta CDR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39543-57D7-4D2B-84C4-BB6C8DFE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6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943F3-FBF8-4B49-B1C5-B475F567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DIGEMID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531EB-6DCF-4C30-BA36-5E9D62F7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Reporte periódico de precios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Exportación de datos para revisión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Registro del resultado y constancia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65955-5214-46AB-9DF9-2DF44BF4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84536"/>
          </a:bodyPr>
          <a:lstStyle xmlns:a="http://schemas.openxmlformats.org/drawingml/2006/main">
            <a:def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71C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C2C"/>
                </a:solidFill>
                <a:latin typeface="Arial"/>
                <a:ea typeface="Arial"/>
                <a:cs typeface="Arial"/>
              </a:rPr>
              <a:t>La validez externa requiere credenciales oficiales, certificado digital y aceptación de la entidad correspondiente.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9E691-754B-43FE-9F0C-54FF49BD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D27D4-6409-4EC9-A1C5-F58EE4C9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26899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CD970-CC16-4352-A286-2A197828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CB685-E4F3-4CB1-8044-2F23930F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52BED-3BD7-4418-9C68-6F09AC8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Calidad y despliegue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97060-5CCC-4AB5-9A53-5B9CF12B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pruebas y los controles de infraestructura respaldan la demostración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24C55-27BA-491A-97AF-FE450857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143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ctr"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6900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3F4D6-03DD-40ED-857A-D4EA21B4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pruebas backend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A2C82-C772-47F5-BC29-58F240DC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Además: compilación Angular y healthchecks de los tres contenedores.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F85C4-5F91-480C-9C1D-8E830B20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190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D017F-CD31-4ABC-82DB-2E511906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2AA5A-7A52-4E87-BB5E-CA45C95E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75290-3BFD-484B-B51B-CEEA5508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Servicios y reglas de negocio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APIs, autenticación y permisos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4C236-4D33-4FB2-AEC6-DB00F1DB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D70F9-1B39-42F7-B6E2-AB4CFF8C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B4821-0ECC-4FEF-8D3E-758D7748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Compilación Angular correcta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Validaciones y mensajes controlados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F9367-E738-434B-94C6-8F0D3DAA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C9130-AC00-4FAF-BEC4-2D8E5F0B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INFRAESTRUCTURA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51F78-AAAB-4570-B954-4578DCA4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Docker Compose y healthchecks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Demostración preparada para AWS EC2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EF085-083B-4DC8-95C4-119D8D82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81575"/>
            <a:ext cx="76962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133350" rIns="133350" bIns="13335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usa migraciones Flyway y el backend valida el esquema antes de iniciar.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5F73B-D737-497B-AE2E-2A13E16A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D8FA9-1DBE-4B9B-A8AD-FCA6A57B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7847152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D52BA-5BD5-42E8-AE3D-B17AC2AA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47AD8-DBF8-4946-8671-1B90871B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A625B-6E48-438D-9888-70312F2F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Recomendaciones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80659-E96B-4B76-9A85-3E423935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27"/>
          </a:bodyPr>
          <a:lstStyle xmlns:a="http://schemas.openxmlformats.org/drawingml/2006/main">
            <a:def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Las siguientes acciones mejoran la demostración actual y preparan una evolución segura del sistema.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3147F-E4F1-4178-A637-24417B1A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ANTES DEL DESPLIEGUE EN EC2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F17E1-EC71-4799-B1AF-FA35653B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AE95A-DFD6-480A-8958-9ECA081F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71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Separar secretos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C6322-ABA2-4F2F-AA68-017B469C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Usar un archivo de entorno fuera del repositorio y renovar tokens expuestos.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F496A-A4ED-4419-A2C8-EFCF7D36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F48F3-123A-4392-B106-C70F333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Preparar la demostración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E92DF-A133-474F-BECA-3F6BA599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719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Cargar datos coherentes y ensayar venta, Kardex, alerta y arqueo.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C427C-6F0C-4C38-A386-EA539D8B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F7C7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73C4A-6BB7-420F-B9C0-1EDE182B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Asegurar el acceso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9E673-DE0A-4FDC-AFB9-16EF1EFD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Cambiar contraseñas, habilitar HTTPS y limitar puertos en EC2.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3C075-BE01-4499-A6AB-22AC1591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190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F64EF-CD0E-4C4C-A0DC-0FFB3149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SIGUIENTES MEJORAS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021AD-B139-4AA3-9141-7588314B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62CC3-A2D2-4221-871A-90E01B17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Automatizar respaldo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9808A-9B0D-45C5-9440-18482C65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241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Programar copias de PostgreSQL y probar periódicamente su restauración.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6B101-928B-4917-9040-CDFF6C65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195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C061E-4299-4227-A5A6-774A7DEA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Ampliar pruebas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A75E7-488B-44FC-9E9E-0AD0537A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7192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Agregar pruebas E2E para venta, devolución, recepción y cierre de caja.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A3297-2E53-4163-85BB-186680CF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45E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5E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D118A-E1E1-4667-AF6F-CB954099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3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B3A"/>
                </a:solidFill>
                <a:latin typeface="Arial"/>
                <a:ea typeface="Arial"/>
                <a:cs typeface="Arial"/>
              </a:rPr>
              <a:t>Escalar por etapas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F7D283-DBDF-4849-A776-B8FF782B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96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Evaluar sucursales, lectura de códigos y paneles comparativos.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7FCB9-47A1-4CB0-B308-94DC4E2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9334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9444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Prioridad inmediata: una demostración reproducible, segura y con datos fáciles de explicar.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13B59-25E5-4A75-A640-8AB8CC24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DB2B8E-B2A9-4D03-951C-FE236DF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718A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A98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787923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17B00-07FD-43F0-84A3-6D299802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FC342-570A-41D5-8B00-94F85E52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4DCB9-41F0-4DBF-B8B2-E809883B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74110-91BE-45A2-A61D-51FCC5FC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7157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25"/>
          </a:bodyPr>
          <a:lstStyle xmlns:a="http://schemas.openxmlformats.org/drawingml/2006/main">
            <a:def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8D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8DE"/>
                </a:solidFill>
                <a:latin typeface="Arial"/>
                <a:ea typeface="Arial"/>
                <a:cs typeface="Arial"/>
              </a:rPr>
              <a:t>El sistema integra la operación farmacéutica y deja evidencia de cada movimiento relevante.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A7A64-ACD1-400F-80C8-33F29471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1B6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B6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5239C-84B1-443A-8D04-1EDC964F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6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F6624-7348-43BE-828D-B3E91937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955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Cada entrada, venta, devolución o ajuste conserva usuario, producto, lote y saldos.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5CC7C-6363-41FF-BCD3-67A95AF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2342A8-194F-4FB5-9281-BCAD561E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629F4-8243-4E80-8119-3B1D16EA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F859E-EB1C-4BF6-964A-F2C0F512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FEFO, Kardex, conteo físico y alertas permiten detectar riesgos antes de que afecten la atención.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EF8ED-395D-41B5-B5D8-491FBA7F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95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D0771-BBC4-444F-BFD7-B84FE71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6AEA8-89BF-4981-A2F8-F1C3BB7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Operación integrada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42020-427D-4DBF-A4DD-66321FE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958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8CD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DD5"/>
                </a:solidFill>
                <a:latin typeface="Arial"/>
                <a:ea typeface="Arial"/>
                <a:cs typeface="Arial"/>
              </a:rPr>
              <a:t>Ventas, caja, compras, recetas y reportes comparten reglas y una base de datos común.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49E86-A37B-43AE-AC75-8E178BD5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3B9D1-4062-407D-8E62-3DE37487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71700"/>
            <a:ext cx="57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82461-84AB-4ED5-9845-E33E1598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5C7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C79B"/>
                </a:solidFill>
                <a:latin typeface="Arial"/>
                <a:ea typeface="Arial"/>
                <a:cs typeface="Arial"/>
              </a:rPr>
              <a:t>Demostración propuesta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FC236-44DA-4843-B505-D966DCD3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Abrir caja, registrar una venta, revisar Kardex y cerrar con arqueo.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C6060-475C-41F9-AF30-42CFB307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SISTEMA WEB DE GESTIÓN FARMACÉUTICA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3B7D8-71C6-43F7-A794-F73CA68D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93AEB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3AEBB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2101911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2026-10-20T00:44:16.0620000Z</dcterms:created>
  <dcterms:modified xsi:type="dcterms:W3CDTF">2026-10-20T00:44:16.0620000Z</dcterms:modified>
</coreProperties>
</file>