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f643ca6c91405a" /><Relationship Type="http://schemas.openxmlformats.org/officeDocument/2006/relationships/extended-properties" Target="/docProps/app.xml" Id="R4e9e98ecba514eee" /><Relationship Type="http://schemas.openxmlformats.org/officeDocument/2006/relationships/officeDocument" Target="/ppt/presentation.xml" Id="R382c4a8b5efe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3a65fa21047bc"/>
  </p:sldMasterIdLst>
  <p:notesMasterIdLst>
    <p:notesMasterId xmlns:r="http://schemas.openxmlformats.org/officeDocument/2006/relationships" r:id="R24966783f5be4368"/>
  </p:notesMasterIdLst>
  <p:sldIdLst>
    <p:sldId xmlns:r="http://schemas.openxmlformats.org/officeDocument/2006/relationships" id="256" r:id="R8d5ba17fb34442c7"/>
    <p:sldId xmlns:r="http://schemas.openxmlformats.org/officeDocument/2006/relationships" id="257" r:id="R8bd1d32c60684ee2"/>
    <p:sldId xmlns:r="http://schemas.openxmlformats.org/officeDocument/2006/relationships" id="258" r:id="Rdb94ebaf190749e4"/>
    <p:sldId xmlns:r="http://schemas.openxmlformats.org/officeDocument/2006/relationships" id="259" r:id="Rd025e1fa2b6c41c4"/>
    <p:sldId xmlns:r="http://schemas.openxmlformats.org/officeDocument/2006/relationships" id="260" r:id="Rb0bf5956cb8240de"/>
    <p:sldId xmlns:r="http://schemas.openxmlformats.org/officeDocument/2006/relationships" id="261" r:id="Rfe8f4ec7ec7f4a65"/>
    <p:sldId xmlns:r="http://schemas.openxmlformats.org/officeDocument/2006/relationships" id="262" r:id="Rdb2221ccb8d348d2"/>
    <p:sldId xmlns:r="http://schemas.openxmlformats.org/officeDocument/2006/relationships" id="263" r:id="Red2f7f21c0fb42ca"/>
    <p:sldId xmlns:r="http://schemas.openxmlformats.org/officeDocument/2006/relationships" id="264" r:id="Re23a41683ee14f5d"/>
    <p:sldId xmlns:r="http://schemas.openxmlformats.org/officeDocument/2006/relationships" id="265" r:id="Rd866a280f6bb4234"/>
    <p:sldId xmlns:r="http://schemas.openxmlformats.org/officeDocument/2006/relationships" id="266" r:id="Rda8e63a6fcff4836"/>
    <p:sldId xmlns:r="http://schemas.openxmlformats.org/officeDocument/2006/relationships" id="267" r:id="R0c384c1989384660"/>
    <p:sldId xmlns:r="http://schemas.openxmlformats.org/officeDocument/2006/relationships" id="268" r:id="R524290482252410c"/>
    <p:sldId xmlns:r="http://schemas.openxmlformats.org/officeDocument/2006/relationships" id="269" r:id="Ra840b5634bb945a0"/>
    <p:sldId xmlns:r="http://schemas.openxmlformats.org/officeDocument/2006/relationships" id="270" r:id="Rfa0bc08748654fef"/>
    <p:sldId xmlns:r="http://schemas.openxmlformats.org/officeDocument/2006/relationships" id="271" r:id="R29b02e2a991743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d75514d3fe461b" /><Relationship Type="http://schemas.openxmlformats.org/officeDocument/2006/relationships/slideMaster" Target="/ppt/slideMasters/slideMaster1.xml" Id="Rae03a65fa21047bc" /><Relationship Type="http://schemas.openxmlformats.org/officeDocument/2006/relationships/notesMaster" Target="/ppt/notesMasters/notesMaster1.xml" Id="R24966783f5be4368" /><Relationship Type="http://schemas.openxmlformats.org/officeDocument/2006/relationships/presProps" Target="/ppt/presProps.xml" Id="R6578d22e99ac4de2" /><Relationship Type="http://schemas.openxmlformats.org/officeDocument/2006/relationships/tableStyles" Target="/ppt/tableStyles.xml" Id="Redc9b88a5a684a6d" /><Relationship Type="http://schemas.openxmlformats.org/officeDocument/2006/relationships/slide" Target="/ppt/slides/slide1.xml" Id="R8d5ba17fb34442c7" /><Relationship Type="http://schemas.openxmlformats.org/officeDocument/2006/relationships/slide" Target="/ppt/slides/slide2.xml" Id="R8bd1d32c60684ee2" /><Relationship Type="http://schemas.openxmlformats.org/officeDocument/2006/relationships/slide" Target="/ppt/slides/slide3.xml" Id="Rdb94ebaf190749e4" /><Relationship Type="http://schemas.openxmlformats.org/officeDocument/2006/relationships/slide" Target="/ppt/slides/slide4.xml" Id="Rd025e1fa2b6c41c4" /><Relationship Type="http://schemas.openxmlformats.org/officeDocument/2006/relationships/slide" Target="/ppt/slides/slide5.xml" Id="Rb0bf5956cb8240de" /><Relationship Type="http://schemas.openxmlformats.org/officeDocument/2006/relationships/slide" Target="/ppt/slides/slide6.xml" Id="Rfe8f4ec7ec7f4a65" /><Relationship Type="http://schemas.openxmlformats.org/officeDocument/2006/relationships/slide" Target="/ppt/slides/slide7.xml" Id="Rdb2221ccb8d348d2" /><Relationship Type="http://schemas.openxmlformats.org/officeDocument/2006/relationships/slide" Target="/ppt/slides/slide8.xml" Id="Red2f7f21c0fb42ca" /><Relationship Type="http://schemas.openxmlformats.org/officeDocument/2006/relationships/slide" Target="/ppt/slides/slide9.xml" Id="Re23a41683ee14f5d" /><Relationship Type="http://schemas.openxmlformats.org/officeDocument/2006/relationships/slide" Target="/ppt/slides/slide10.xml" Id="Rd866a280f6bb4234" /><Relationship Type="http://schemas.openxmlformats.org/officeDocument/2006/relationships/slide" Target="/ppt/slides/slide11.xml" Id="Rda8e63a6fcff4836" /><Relationship Type="http://schemas.openxmlformats.org/officeDocument/2006/relationships/slide" Target="/ppt/slides/slide12.xml" Id="R0c384c1989384660" /><Relationship Type="http://schemas.openxmlformats.org/officeDocument/2006/relationships/slide" Target="/ppt/slides/slide13.xml" Id="R524290482252410c" /><Relationship Type="http://schemas.openxmlformats.org/officeDocument/2006/relationships/slide" Target="/ppt/slides/slide14.xml" Id="Ra840b5634bb945a0" /><Relationship Type="http://schemas.openxmlformats.org/officeDocument/2006/relationships/slide" Target="/ppt/slides/slide15.xml" Id="Rfa0bc08748654fef" /><Relationship Type="http://schemas.openxmlformats.org/officeDocument/2006/relationships/slide" Target="/ppt/slides/slide16.xml" Id="R29b02e2a9917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9892a79b2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ee200a5984e93" /><Relationship Type="http://schemas.openxmlformats.org/officeDocument/2006/relationships/notesMaster" Target="/ppt/notesMasters/notesMaster1.xml" Id="R0d3b6f68b3044d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d29dfacad4bfb" /><Relationship Type="http://schemas.openxmlformats.org/officeDocument/2006/relationships/notesMaster" Target="/ppt/notesMasters/notesMaster1.xml" Id="Rfe3c304c01ff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9e4b4fc6b419b" /><Relationship Type="http://schemas.openxmlformats.org/officeDocument/2006/relationships/notesMaster" Target="/ppt/notesMasters/notesMaster1.xml" Id="Reb2c0500dd24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d49c0a1aec4da3" /><Relationship Type="http://schemas.openxmlformats.org/officeDocument/2006/relationships/notesMaster" Target="/ppt/notesMasters/notesMaster1.xml" Id="R1b222f525bb9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6ea11dcd34468" /><Relationship Type="http://schemas.openxmlformats.org/officeDocument/2006/relationships/notesMaster" Target="/ppt/notesMasters/notesMaster1.xml" Id="R137986a2fe6344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c6dbbb3fd54070" /><Relationship Type="http://schemas.openxmlformats.org/officeDocument/2006/relationships/notesMaster" Target="/ppt/notesMasters/notesMaster1.xml" Id="R453255a156a7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846f02395a4bc9" /><Relationship Type="http://schemas.openxmlformats.org/officeDocument/2006/relationships/notesMaster" Target="/ppt/notesMasters/notesMaster1.xml" Id="R48192fcc03c7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d8cbe7e18c451c" /><Relationship Type="http://schemas.openxmlformats.org/officeDocument/2006/relationships/notesMaster" Target="/ppt/notesMasters/notesMaster1.xml" Id="R68df022d1c3b46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9174f0b2fd49d7" /><Relationship Type="http://schemas.openxmlformats.org/officeDocument/2006/relationships/notesMaster" Target="/ppt/notesMasters/notesMaster1.xml" Id="R28ed43b4033c4e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19f8facdfa4e83" /><Relationship Type="http://schemas.openxmlformats.org/officeDocument/2006/relationships/notesMaster" Target="/ppt/notesMasters/notesMaster1.xml" Id="R4d86f8f0ce1b4c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2aec5baab843d4" /><Relationship Type="http://schemas.openxmlformats.org/officeDocument/2006/relationships/notesMaster" Target="/ppt/notesMasters/notesMaster1.xml" Id="R59a8bc170f9b48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26f4b4c3b846da" /><Relationship Type="http://schemas.openxmlformats.org/officeDocument/2006/relationships/notesMaster" Target="/ppt/notesMasters/notesMaster1.xml" Id="Rc093f9aaea9b42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64e97a99e5496f" /><Relationship Type="http://schemas.openxmlformats.org/officeDocument/2006/relationships/notesMaster" Target="/ppt/notesMasters/notesMaster1.xml" Id="R9f6b23f31e5b4e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c8879141964ff9" /><Relationship Type="http://schemas.openxmlformats.org/officeDocument/2006/relationships/notesMaster" Target="/ppt/notesMasters/notesMaster1.xml" Id="Re34793725e794a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612aa97b6a45e2" /><Relationship Type="http://schemas.openxmlformats.org/officeDocument/2006/relationships/notesMaster" Target="/ppt/notesMasters/notesMaster1.xml" Id="R151d11eb26b240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7c887efbf54e2f" /><Relationship Type="http://schemas.openxmlformats.org/officeDocument/2006/relationships/notesMaster" Target="/ppt/notesMasters/notesMaster1.xml" Id="Rb3a9eea7e5f5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c15696ad849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e4720beb747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b6eaef75a40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536af0acf46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19832fee845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50e42cf2144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CD663D-47A5-4029-96E1-64F4B8A5CB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1AF683-3109-4856-B703-106388FF1E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C5BCF7-49ED-47C8-8B87-3489359FA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25B8CE-A0A7-425C-A683-487ABF783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4E8910-14CA-4781-B605-23984AF1C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B03234-1235-497A-8659-C606F01A6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5447DC-D3A8-4C14-A553-DA973CA818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9D041E-1F93-492B-BD99-7CD98FAC43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81959F-A504-4050-83F1-6A7370932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DE1C62-BA9D-482B-8DE2-4F9FB3E4C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0d8a955e24181" /><Relationship Type="http://schemas.openxmlformats.org/officeDocument/2006/relationships/slideLayout" Target="/ppt/slideLayouts/slideLayout1.xml" Id="R945b5d87ced04cc3" /><Relationship Type="http://schemas.openxmlformats.org/officeDocument/2006/relationships/slideLayout" Target="/ppt/slideLayouts/slideLayout2.xml" Id="Rf06257b49f7d429b" /><Relationship Type="http://schemas.openxmlformats.org/officeDocument/2006/relationships/slideLayout" Target="/ppt/slideLayouts/slideLayout3.xml" Id="R5235cefaa33f4588" /><Relationship Type="http://schemas.openxmlformats.org/officeDocument/2006/relationships/slideLayout" Target="/ppt/slideLayouts/slideLayout4.xml" Id="R0a903c7ca2a64255" /><Relationship Type="http://schemas.openxmlformats.org/officeDocument/2006/relationships/slideLayout" Target="/ppt/slideLayouts/slideLayout5.xml" Id="R28d3279c19234976" /><Relationship Type="http://schemas.openxmlformats.org/officeDocument/2006/relationships/slideLayout" Target="/ppt/slideLayouts/slideLayout6.xml" Id="R9954d182f08b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b5d87ced04cc3"/>
    <p:sldLayoutId xmlns:r="http://schemas.openxmlformats.org/officeDocument/2006/relationships" id="2147483650" r:id="Rf06257b49f7d429b"/>
    <p:sldLayoutId xmlns:r="http://schemas.openxmlformats.org/officeDocument/2006/relationships" id="2147483651" r:id="R5235cefaa33f4588"/>
    <p:sldLayoutId xmlns:r="http://schemas.openxmlformats.org/officeDocument/2006/relationships" id="2147483652" r:id="R0a903c7ca2a64255"/>
    <p:sldLayoutId xmlns:r="http://schemas.openxmlformats.org/officeDocument/2006/relationships" id="2147483653" r:id="R28d3279c19234976"/>
    <p:sldLayoutId xmlns:r="http://schemas.openxmlformats.org/officeDocument/2006/relationships" id="2147483654" r:id="R9954d182f08b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f9650f1954791" /><Relationship Type="http://schemas.openxmlformats.org/officeDocument/2006/relationships/image" Target="/ppt/media/image.png" Id="Rc657850867ae4ecf" /><Relationship Type="http://schemas.openxmlformats.org/officeDocument/2006/relationships/image" Target="/ppt/media/image.jpeg" Id="R805bbb9de5c94b9e" /><Relationship Type="http://schemas.openxmlformats.org/officeDocument/2006/relationships/notesSlide" Target="/ppt/notesSlides/notesSlide1.xml" Id="R28595dc0b8e143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313b16e4e49d8" /><Relationship Type="http://schemas.openxmlformats.org/officeDocument/2006/relationships/notesSlide" Target="/ppt/notesSlides/notesSlide2.xml" Id="R79c6f3efd2bb4b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73340b10d4894" /><Relationship Type="http://schemas.openxmlformats.org/officeDocument/2006/relationships/notesSlide" Target="/ppt/notesSlides/notesSlide3.xml" Id="Rb6b822c28e8e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856a293ef450f" /><Relationship Type="http://schemas.openxmlformats.org/officeDocument/2006/relationships/notesSlide" Target="/ppt/notesSlides/notesSlide4.xml" Id="R6ca46aeced73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54f806be1434d" /><Relationship Type="http://schemas.openxmlformats.org/officeDocument/2006/relationships/notesSlide" Target="/ppt/notesSlides/notesSlide5.xml" Id="Re444cf5b8bcc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e8c8b793f42fb" /><Relationship Type="http://schemas.openxmlformats.org/officeDocument/2006/relationships/notesSlide" Target="/ppt/notesSlides/notesSlide6.xml" Id="R70be490d2c4b4a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42790ba6c4de1" /><Relationship Type="http://schemas.openxmlformats.org/officeDocument/2006/relationships/notesSlide" Target="/ppt/notesSlides/notesSlide7.xml" Id="Rc3366e79ec004b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879de769a416a" /><Relationship Type="http://schemas.openxmlformats.org/officeDocument/2006/relationships/notesSlide" Target="/ppt/notesSlides/notesSlide8.xml" Id="R854658b2edd94e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7970aaea74441" /><Relationship Type="http://schemas.openxmlformats.org/officeDocument/2006/relationships/notesSlide" Target="/ppt/notesSlides/notesSlide9.xml" Id="R4d5cc1a5f4ca4d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ea7fd26904432" /><Relationship Type="http://schemas.openxmlformats.org/officeDocument/2006/relationships/notesSlide" Target="/ppt/notesSlides/notesSlide10.xml" Id="R2ecbc1e36cbf4e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4ffce35354a34" /><Relationship Type="http://schemas.openxmlformats.org/officeDocument/2006/relationships/notesSlide" Target="/ppt/notesSlides/notesSlide11.xml" Id="Rffdffda66ced4d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5866ad45547d2" /><Relationship Type="http://schemas.openxmlformats.org/officeDocument/2006/relationships/image" Target="/ppt/media/image2.png" Id="Raf917a1ab4c44465" /><Relationship Type="http://schemas.openxmlformats.org/officeDocument/2006/relationships/notesSlide" Target="/ppt/notesSlides/notesSlide12.xml" Id="R4c731af558f24d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c91450f144be6" /><Relationship Type="http://schemas.openxmlformats.org/officeDocument/2006/relationships/notesSlide" Target="/ppt/notesSlides/notesSlide13.xml" Id="Re8ed2916d69141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ca27f6dcc47b7" /><Relationship Type="http://schemas.openxmlformats.org/officeDocument/2006/relationships/notesSlide" Target="/ppt/notesSlides/notesSlide14.xml" Id="R3474f568dce14f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6b581ce2e4b95" /><Relationship Type="http://schemas.openxmlformats.org/officeDocument/2006/relationships/notesSlide" Target="/ppt/notesSlides/notesSlide15.xml" Id="R9828a565605f4e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2e35a2de14192" /><Relationship Type="http://schemas.openxmlformats.org/officeDocument/2006/relationships/notesSlide" Target="/ppt/notesSlides/notesSlide16.xml" Id="Rb1d2342a3a6547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49327-5CC8-4C15-8EEA-0B83FFCDC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7850867ae4ecf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6D27B-478B-46E4-9E4C-6882AD46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ECF08-7489-4A16-A6F7-6CEE8139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3F235-A160-49FC-9BD9-E9652F5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7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AF030-5F8A-4BBB-9DC1-41FB6757D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bbb9de5c94b9e"/>
          <a:stretch xmlns:a="http://schemas.openxmlformats.org/drawingml/2006/main"/>
        </p:blipFill>
        <p:spPr>
          <a:xfrm xmlns:a="http://schemas.openxmlformats.org/drawingml/2006/main">
            <a:off x="876300" y="440924"/>
            <a:ext cx="1143000" cy="5659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B1448-D57E-49AE-93F2-65E98F24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3FD37-A5F9-48F0-875C-86ACCDC2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 de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farmacéutica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89585-EACF-4D6F-BB33-4E321423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5EA"/>
                </a:solidFill>
                <a:latin typeface="Arial"/>
                <a:ea typeface="Arial"/>
                <a:cs typeface="Arial"/>
              </a:rPr>
              <a:t>Proyecto aplicado a la Botica Virgen del Carmen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1A3C8-6F88-4412-A9F4-CFDF7FEC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Angular 18 · Spring Boot 3.4.5 · PostgreSQL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32218-7BE7-49D9-958E-D8496B38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Jhosetd Deyker Gamboa Quispe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Juan Carlos Florez Pareja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8E9F-F414-4A18-ACF7-508F62F6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AB6"/>
                </a:solidFill>
                <a:latin typeface="Arial"/>
                <a:ea typeface="Arial"/>
                <a:cs typeface="Arial"/>
              </a:rPr>
              <a:t>Ingeniería de Sistemas de Información · VIII ciclo · 2026</a:t>
            </a:r>
          </a:p>
        </p:txBody>
      </p:sp>
    </p:spTree>
    <p:extLst>
      <p:ext uri="{BB962C8B-B14F-4D97-AF65-F5344CB8AC3E}">
        <p14:creationId xmlns:p14="http://schemas.microsoft.com/office/powerpoint/2010/main" val="589986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4344E-789C-46D7-B613-DF782BA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0E301-5E72-4EC5-9899-C5E1931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13D8-97CC-420D-9397-6DBDAF41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9C0E1-A8E9-4807-AA66-5450C68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001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operación pierde confiabilidad cuando cada proceso conserva información separada.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56413-6E8E-4103-BF2D-6E80152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Problema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B9D6C-FEEA-4E44-8716-00217C22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El stock registrado no siempre representa lo que existe físicamente.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8ED19-9D87-4315-9E9B-3D31F85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falta de control por lote afecta la atención, la trazabilidad y la detección oportuna de vencimientos.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259A9-EA17-4CB4-9BFA-64043DAA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84507-DC57-4C45-B364-DC6EF8E1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B6A64-4CFC-4AD3-85D2-8A35A79D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E4E36-FA22-405A-AD8E-A8C246BA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Diferencias entre el sistema y el anaquel.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6123D-6AE7-4000-B925-09F0875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A7EA1-FADB-4F7A-9378-CAE60B0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6C172-6CB1-44FB-AA0E-F6110E17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Alertas tardías y productos que pierden valor.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FB984-A7B9-46E9-B97B-41C3EB3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CEC95-9B59-4328-9A06-288B0E4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Procesos aislados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826A4-373E-4673-BBF0-194E8562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Ventas, caja, compras e inventario sin trazabilidad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C60E8-7452-4FE4-AE25-DA93291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4F036-2331-4294-8D61-5EDD2018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Reportes manuales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3588B-B0B2-43CA-A503-22770038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Más tiempo para verificar información y preparar evidencias.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5175F-4CD5-4EEA-87D0-A8CC7673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585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Objetivo: controlar ventas, caja e inventario por usuario, producto y lote.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80204-F48A-4C53-B11B-440F118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29A6B-F082-4FAE-A33C-E53FC69B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955038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A474E-7A5D-484C-B098-58C4D50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86CD6-E3E1-4B2D-AFBC-4CA777BE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67B99-D6F8-490D-B30A-2934E7F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Stakeholders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34182-85BD-414F-8E5F-E3CD22B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58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El sistema responde a necesidades operativas internas y a obligaciones externas de información.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41CDD-3661-4B28-843E-1426374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INTERNOS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CC123-815B-4BEF-B003-4F58F45D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49632-E345-43ED-A142-FD7975A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Propietario / administrador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3170D-BF1F-4693-9CB1-B85731B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Control de operación, usuarios, cajas y reportes.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EA60E-01F4-4F21-9CEB-9EFB36E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BA75-E155-4F8C-8F9F-1AC67F8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C0028-199C-4476-9865-B5E8A9A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 rápida, identificación del cliente y arqueo confiable.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1CCC6-B1DB-461D-BCA3-6E3DE9C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A19FF-300E-4BFB-B5C2-5D27B8FE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2F298-CAC4-4FA2-BC0E-16E615B5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Compras, lotes, vencimientos, conteos y alertas.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07A79-8DCA-4C5F-B30E-795A381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4787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14660-0C45-4A0D-B9F8-D6A2FE2A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EXTERNOS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EB5FF-9696-4D21-90FE-ACFBA62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CC915-0511-432F-BEC1-C2CB669B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E6B93-87DE-4552-B5B7-FA6A7F7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Atención ágil, datos correctos y comprobantes claros.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5C663-91D5-45E1-8928-E1C61B35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3FF98-4A5B-43A4-8F9E-EA0EE10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Proveedores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5B012-761B-4DFE-8F56-DAAD0D6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Órdenes, recepciones y devoluciones trazables.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E7351-F3B3-474D-83E3-5796AD5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D91B6-FCC8-438C-9BFF-61503892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SUNAT y DIGEMID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3B384-BE76-4D7E-9448-0C158D6B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Documentos y reportes preparados según el flujo requerido.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E6561-4C52-4821-BE10-707347C2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86504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propietario concentra la decisión. Cajeros y almaceneros sostienen la operación diaria.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C9888-DB54-4EB9-81E1-FEA4317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137E8-9FD8-4A61-9E92-E020B21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766333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356361-5362-466C-8B8C-AAA886A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5DEEA-5CBC-4654-AEE3-C57BC36B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CEC7B-4D65-4F02-82DF-3F9B6FF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Requisitos funcionales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07BFA-A8A9-48D4-B682-E4318B6F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funciones cubren el ciclo completo desde el abastecimiento hasta el cierre de caja.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B6387-541A-46ED-9245-07232A0A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0A6C1-0998-4946-B0CE-A4C8549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Acceso y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2DE8C-F9D7-4D19-A178-70691BD9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90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Autenticar usuarios y restringir funciones por perfil.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DDA46-A332-43AD-858F-371F0A0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765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CAABB-E9E0-41DD-BD0A-1374E374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DF254-92CA-4F3A-A845-40FAB8C1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19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Datos maestros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B01BC-37F0-412B-925A-1AAAC610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Gestionar productos, clientes, proveedores y catálogos.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869E6-1E9E-4C03-B0DE-487E15B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603F9-EF00-48CA-8145-CB0AD5F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0B82C-D2BA-4F3B-85BF-DD2757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Compras y recepción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C89F1-1C7F-4203-9EA3-092E9398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148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Registrar comprobantes, lotes, costos y devoluciones.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598E3-A5F5-4EF1-B1F0-CE40477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9BEC8-EE2C-4C80-873F-9E166E53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D9688-5767-4B93-922A-C9B3547C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43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43E4A-D9F0-40B6-BDEA-82E598C3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Controlar stock, vencimientos, Kardex y conteo físico.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D9B56-AE3B-4ECA-952D-6D5875A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526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C9AC3-E748-425D-99BF-A6E2981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AF6EB-5B8E-4FEC-94FC-71CC5F11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Punto de venta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161E24-9F2F-4BED-B15D-8A60471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90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Registrar ventas, pagos, clientes y comprobantes.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FAEEB-0A51-4197-A11F-C25DA77E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7C3A0-DBD5-4728-82F8-840D5C6A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3AB27-3408-4B7C-92E7-13A7781F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838866-7FD3-4853-9F38-CF1A427B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Abrir, registrar movimientos, arquear y cerrar sesiones.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0C43A-1553-4156-96A2-4D98585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22DC0-B775-4FA8-92B6-B0E73F08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3AB04-8CD8-4958-BBE6-888C303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Reglas farmacéuticas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45E23-D37C-477D-8776-AF7A2D3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148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Validar receta, condición de venta y salida FEFO.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B008BB-9808-4A83-B008-21293495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006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9EA4D-D28F-4E43-91D8-81595EF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43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13A50-01F8-411C-9EE8-0D6601ED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43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cumplimiento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C6EAB-B46F-4CB5-8180-22D07702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Informar riesgos y preparar SUNAT y DIGEMID.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68F785-D0EC-4B9B-A2F7-240AB986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72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Los requisitos se conectan: una venta válida modifica stock, Kardex, caja y documento.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BFD865-ED8E-4A3D-B3D3-71980CC5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8E7622-22CD-4A8D-A901-339C078C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342523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CDAA2-D7BA-4462-8E5C-4DAF3669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AB18F-3603-46B5-95E1-76F7C995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076E7-4178-44A1-8526-93647875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Requisitos no funcionales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D580A-8541-4828-92C1-73A2FBD1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26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calidad del sistema depende de proteger los datos y conservar operaciones consistentes.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778B6-86C3-44E2-9D9C-10C075E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6327-A8E2-406F-A294-28AE8354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4214C-36C4-4147-872B-D5E3367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en cookie segura y protección CSRF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E6324-0817-4B14-955E-D61A0A5A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AC1D5-30ED-4F15-B00D-4A21304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Contraseñas BCrypt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906FF-6F0E-4BFD-A772-9145B1BA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FE638-1557-42E1-8CC7-3AADBF4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C4276-290D-43A1-ACC9-D92E1748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Transacciones atómicas e idempotencia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3C36B-5A63-4676-93C0-DC1757E8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C7ACC-0E59-465C-AB80-3B8DF49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Bloqueo de stock y validaciones de negocio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031FC-96B8-4824-8692-1F7F699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27870-1BE9-4EF0-BFC1-9A5ADE0C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MANTENIBILIDAD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318D0-321C-40DE-9AFA-0B7C8B2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por capas y DTO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10821-B754-4996-96D0-F543CF6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A93B6-A718-46A4-A2B0-0515CD3F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Flyway, perfiles y variables de entorno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CE9E3-C3E7-4A8A-9178-0D22294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787C2-D23C-4DA4-BC43-8E98BF5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EAA7E-5A69-4742-8D55-C72B2C6F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Healthchecks y reinicio controlado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2D870-FF3E-40B8-90CB-E91A2DC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1EA7A-DA15-403A-8B12-944041D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Datos persistentes en volumen 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44FF7-AC90-41FC-8014-6C8CA8E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instalación debe repetirse en local y EC2 sin incluir secretos en el código fuente.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1DEFE-57B3-4154-9E98-FE5B3EC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D46EB-A8C0-4368-BBCD-6D7053E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568174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44F7D-5B01-4502-AB30-B03D0B364C7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91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E2B90-EA4D-404E-8205-3C02996FDFB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340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205FE-6115-43A3-836B-9D0D9C71F8B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ADE9A-A6F8-4077-A49F-E3446C8C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FCA10-8354-4FB4-8EC0-A22E046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F89BF-F456-49E7-846A-E4292AE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6CE0F-979C-44FB-B68C-62BF3C62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7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plataforma web que integra la operación diaria y conserva el origen de cada movimiento.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45D37-0EC1-4399-99A6-4AF2424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1FC29-4859-4FAB-BE82-CC63A3AD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4AA40-CB2C-480D-AAD3-4B15E1D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BCE64-122E-462B-89FD-35452526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88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Compra, recepción y devolución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BE2F2-FF27-4B72-AEC7-1E85CA28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5E2C2-6899-4355-A991-997F04CB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A1023-F48F-4616-B3CC-C20FA8B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03308-EAAD-44E7-BBD6-78D76527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Lotes, FEFO, Kardex y conteo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CF43E-7481-4AE8-A310-900EC7B8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87CCC-1310-4EB2-AED6-607C490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32D1-15D5-4DEA-BC46-5021950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VENTA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C5B09-C4BB-475B-A69B-A38276F7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POS, cliente, receta y pagos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473E9-4EE8-44D0-B57F-7123BEC9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FCE39-2ECE-4390-803B-E751346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F0D93-8B1E-416A-AF6F-D51848B9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7C6C1-2D46-4D1F-9865-1CA7D86E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Apertura, movimientos y arqueo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20B27-5C1A-499F-A1CE-92382665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Control transversal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1C079-EB82-4E0F-A418-D68B525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20845-1EC9-4074-9417-1AD1925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Roles y permisos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987BF-A7E0-40AA-95A8-4974C8B2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reportes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FBE36-9374-42A3-9704-82AF909C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6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Auditoría de movimientos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BE3FF-4111-4F67-8C28-F1A3FA0A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6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Integraciones controladas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B10F2-D30A-4DA2-8145-2DA8A6C4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42154-DDF6-49AA-9CAC-5B901E0C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864575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52319-93BC-4EEA-B306-A4F08970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60300-925E-4DE9-8716-06796DC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80CB1-E649-4479-B552-672227A4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Usuarios y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62BE-53DE-4BB1-8D39-1DAAE7AE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rol accede únicamente a las funciones necesarias para su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9080C-52E2-4919-A2D8-B6FF564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22BB7-6FE8-41FF-9E33-89854B8D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Configura usuarios y catálogos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Supervisa cajas e inventario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Consulta reportes y cumplimiento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31119-81EA-49D2-8380-D6C00585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66E82-3557-4238-9CC0-B08B9111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649F6-E159-40C6-9070-EBEC361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Abre y cierra su caja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Registra clientes y ventas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Procesa pagos y comprobantes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D7B02-07F1-4A3D-9AC7-733D7502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AAD61-C3E6-4816-B288-8BCA12D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35650-6CDF-4E37-885A-258982A8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Gestiona productos y lotes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Recibe compras y devoluciones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Realiza conteos y revisa alertas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D9E1D-C92D-472A-BC6A-ECBD31DC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Todas las operaciones quedan asociadas al usuario autenticado y a su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BCF7E-EA86-4D5F-AF51-AB5FD14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5EF55-38AB-42A3-A98F-B8E59E4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797095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B7821-46B3-482D-B732-25F205E0D19B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678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6595A-2F67-449C-881D-92D8572F9F1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628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3C21E2-E8D2-4E01-90A0-3E3D7B09687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46E833-093E-4B73-AEF5-44AA91A6937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527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C4C8B0-5C64-4AB8-A444-9E4BF285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36A4E-F37F-4688-8710-13AB491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4FB96-E9B4-483D-A0DC-1D1CEE44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Flujo operativo integrado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6FA7-EF6D-47E8-9AC0-97DFC4C4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7DE"/>
                </a:solidFill>
                <a:latin typeface="Arial"/>
                <a:ea typeface="Arial"/>
                <a:cs typeface="Arial"/>
              </a:rPr>
              <a:t>El sistema valida cada etapa antes de actualizar inventario, caja y documentos.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314DB-60A1-4CA0-8C1A-5DD7733B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71539-0A28-4D7D-9487-CB5AFBD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CB0B7-62E8-47C5-888D-24614B1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06C1B-0A74-4DC3-8C7A-67F7B840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44E1B-282F-4435-82E3-B9E5F66C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Sesión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76723-4A03-4623-91D1-713FF0C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C874F-C542-43C6-8C04-44E11A9D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3388D-3BA5-41D8-A501-835D1322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D1304-42D6-4387-99E6-0E64E6D2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E8D80-F012-4A0D-9FAB-45DEAA3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Público general, DNI o RUC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9D01F-F344-40EC-895B-92AA16A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339B1-6C39-459E-8C80-3894CC6D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52DA6-F875-4B78-B2E9-E50EA56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A0D64-94A3-4B41-B7DE-78D6983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647C1-BFC4-48D6-89A4-3E5D3529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Stock, lote y condición de venta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EBEF4-172C-4CAD-9BBE-E7B44905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61146-3DDF-4B49-A9E0-923C54F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F15C8-4EC7-4688-8471-1B5EAD0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71DF8-574F-4E44-8E0A-AAF248B2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F1570-3968-44EF-8EB4-563217E1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Caja, receta, pagos y FEFO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56C84-430D-416F-AB39-4D82B669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019CC-EF40-4BDF-91F5-A92F5550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F1753-A22C-4D7A-996A-DF443B7E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F8AC4-F9AA-4903-A4DB-4C8E63F1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A1EA3-66D8-49F9-BF78-5340246E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Kardex, comprobante y alertas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30F138-7346-48C8-9C89-7DCE5FDE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una regla falla, la transacción se revierte y no deja registros parciales.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83970-2424-4568-A1B6-2229D126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98449-B6BA-48F1-A4D5-060724A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967407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35800B-1663-43A4-84A0-C4CD04EB547C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238625"/>
            <a:ext cx="8572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FD2D7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2D391-2D7B-42A7-85F9-12F8284E993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91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D40AC-A21B-422D-A21F-5E3E26D0F84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AB25C-E7FF-489F-8702-6806B23E9E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907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793D3-5999-463D-B526-562656F2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38C3-9EE7-4A0F-84C8-0CD34EC3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36A3A-DE8B-4F32-BAC1-AF46002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Arquitectura y tecnologías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E5976-2CD0-4075-8887-DF5B70C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Arquitectura cliente servidor desplegada con contenedores y configuración por entorno.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0B0FE-71A2-4DD4-B943-B84AC12F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9525">
            <a:solidFill>
              <a:srgbClr val="BF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F7400-CC0D-4CC4-A92F-6090ABC0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E21A3-8B67-4C7B-B82D-3F223943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C384-E4AD-4F0A-A936-68948AF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82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DF398-8478-48B9-ABE7-B9484311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C6C61-BD81-4EBF-B7E5-856BE24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Angular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15A57-5151-4821-9272-C78903AD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Nginx publica la interfaz y enruta las solicitudes 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3A2B8-4093-4931-AC00-25F3266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4765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F4FB"/>
          </a:solidFill>
          <a:ln xmlns:a="http://schemas.openxmlformats.org/drawingml/2006/main" w="9525">
            <a:solidFill>
              <a:srgbClr val="8CC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B26A4-91E9-4E22-BD91-BBBA807A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164C3-FD95-4BF9-8F20-374D003E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90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8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Spring Boot 3.4.5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67B66-CFA4-481A-A7B6-3EDD38BC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53BE0-A0D7-436E-8435-EE5D5A35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2FEB9-D679-4D01-A725-7502B5C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REST · JPA/Hibernate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JWT y CSRF · Flyway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D982C-0C9E-4971-A3B8-BCA842F9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E8C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25BFD-7C7B-435A-B216-02C3A7C4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E0E21-5020-4620-A061-F68606C0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PostgreSQL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A8946-2BE9-4437-B0CA-BD8E2C1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57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Volumen persistente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67C7F-60B4-46A1-8416-BC9BC22C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5105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4D91C-5367-4E29-A649-DAD0ECC9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47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Integraciones externas controladas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A720F-385B-41A9-A3B6-E0177C0A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14"/>
          </a:bodyPr>
          <a:lstStyle xmlns:a="http://schemas.openxmlformats.org/drawingml/2006/main">
            <a:def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JSON.pe · SUNAT BETA · DIGEMID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03AB9-94B3-47BD-B604-C7F15A4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15025"/>
            <a:ext cx="861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8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Docker Compose coordina los servicios y sus healthchecks. El mismo conjunto se despliega en AWS EC2.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77F8C-1326-4BB1-B6D7-DD2187FE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A7904-3FCC-45D6-BFE6-F477D14A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645333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D9C45-BEBD-4CD0-871A-6756BA7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9716F-3CDC-427B-96C1-BF11CBB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DF386-8AB6-4E80-B8E2-43078456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Normalización de la 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D2E11-9CD3-4488-9FEC-4AE1964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El modelo separa cada concepto para evitar duplicidad y mantener relaciones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57E38-1903-4975-AD4B-1CAB1E2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1FN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AD676-6F3B-45A6-A5CB-F51B67B5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Datos atómicos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2F253-667F-4026-9F93-3E9227C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campo contiene un solo valor. Los productos de una venta ocupan filas de detalle independientes.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11DF-0491-4ECA-82E2-76ADF136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BCE20-098F-4AFE-AB9F-C662349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2FN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6B199-CA2B-4DFC-8912-3CA0FB1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24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Dependencias completas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A47BE-0A90-416F-897E-609F154A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cabecera conserva fecha, cliente y estado. Cantidad y precio permanecen en el detalle de venta.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F770A-1ACF-4445-A67E-348BBBD6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91148-3A73-4605-BF49-0DD1030A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3FN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A74CA-F752-4F22-A42A-0FFBB71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Sin dependencias transitivas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02EBB-D092-4D04-B4BD-A9EDF688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958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Clientes, productos, laboratorios y categorías tienen tablas propias y se relacionan mediante claves foráneas.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15C75-9943-4648-B5C5-018261D3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C1A3A-FA18-465C-9899-FEA220C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431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Aplicación en el proyecto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FF9AD-E634-4CB0-A244-8CC546A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717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VENTAS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0F4E0-0435-436F-908F-C9B6DF23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717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cabecera y estado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77C7F-3B0E-4D0C-9FD4-37B3C5BB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DETALLE_VENTAS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C0832-5FC7-4F97-BD39-ED377D6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6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producto, lote, cantidad y precio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9BBAD-F143-4877-A036-4EA480DC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95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265CD-FEDE-45DA-ABAC-8959EBEF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572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 y saldo disponible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3F434-58B7-4455-A46F-3D103D09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PAGOS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7C1FB-462A-42D8-BF17-749D34D2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57700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método, monto y caja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462EA-3031-4CCD-8CD9-EFC6298D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MOVIMIENTOS_INVENTARIO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F74D8-CE2C-44A1-BD79-0937B71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196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21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trazabilidad de entradas y salidas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BA99F-C3FA-4122-BA2C-B99C40A9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93345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78568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Resultado: menos repetición, actualizaciones coherentes y auditoría por entidad.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6A871-305A-43F0-ABEC-415A7D39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72CAC-8C78-4AA3-80AF-F49BDA7A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2010284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016F5-C18F-4017-BA70-BED38B9D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8FB14-4E1E-4ACD-84BC-CED8505D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B978F-EBC8-4FBA-898A-4A1F22FA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18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Ejemplo: de una tabla repetida a un modelo relacionado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353DD-B710-43AB-95C7-DA74B478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5"/>
          </a:bodyPr>
          <a:lstStyle xmlns:a="http://schemas.openxmlformats.org/drawingml/2006/main">
            <a:def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venta con varios productos ya no repite los datos del cliente ni mezcla stock con comprobantes.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B5015-74A7-4E61-92B7-D7E09650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ANTES: VENTA_DESNORMALIZADA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04186-5A3B-470E-B9F4-6C1B861A00C6}"/>
              </a:ext>
            </a:extLst>
          </p:cNvPr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495300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1381125"/>
                <a:gridCol w="2047875"/>
                <a:gridCol w="742950"/>
              </a:tblGrid>
              <a:tr h="6048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Venta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 / lote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Cant.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Juan Flores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77777777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Paracetamol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L-PARA-001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Juan Flores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77777777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Alcohol 70%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L-ALC-001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1002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Público general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Paracetamol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L-PARA-001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13792-3F54-476A-89C2-3EBAA228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Problema: cliente, producto y lote se repiten en cada línea.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F11BB-9EE3-400F-A2AB-11515477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DESPUÉS: TABLAS RELACIONADAS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6CE7C-168D-426C-87F0-CFB55F507B0B}"/>
              </a:ext>
            </a:extLst>
          </p:cNvPr>
          <p:cNvGraphicFramePr/>
          <p:nvPr/>
        </p:nvGraphicFramePr>
        <p:xfrm>
          <a:off xmlns:a="http://schemas.openxmlformats.org/drawingml/2006/main" x="6191250" y="2352675"/>
          <a:ext xmlns:a="http://schemas.openxmlformats.org/drawingml/2006/main" cx="539115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352550"/>
                <a:gridCol w="2362200"/>
              </a:tblGrid>
              <a:tr h="520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Clave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PK id_cliente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Identidad y documento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VENTAS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cliente_id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Cabecera, fecha y estado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DETALLE_VENTAS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venta_id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Lote, cantidad y precio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PRODUCTOS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PK id_producto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Descripción y precio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LOTES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producto_id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Vencimiento y stock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B369F-9D42-4D8E-87FB-5264C392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44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dato se guarda una vez y las claves foráneas mantienen la relación.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5FBA0-35F3-4D6A-B66E-4CC19DC4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AD021-26D1-467C-A786-BA6D87DE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990386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1574A-F0E4-4BE0-98D8-4086374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DAFCC-1C29-4707-9CB2-E9F9AC6B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9110D-E47A-474B-9AC6-57128BA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funcional: alertas de inventario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E217-B40F-4AA8-8373-D663A59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interfaz convierte datos de stock y vencimiento en tareas concretas para el usuario.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42CDE-53C6-4F77-9099-227D6791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7B484-26EE-49ED-B2B1-5051DD1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66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 riesgos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BAA88-AEA9-4070-B736-94789FF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Distingue agotados, stock bajo, lotes vencidos y próximos a vencer.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3F2EF-4CFA-4F47-8354-0957598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CED2B-FB1E-45F0-8637-4B42E584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 el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38A4F-3372-47BB-8C80-3947B7E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Muestra producto, lote, fecha y cantidad para facilitar la revisión.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626B7-22A4-49A3-BB81-19A7E123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C177C-303E-4785-BAEA-94145BA7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 la 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F2374-CD81-403B-A90F-F4DEB2FC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Permite revisar el producto o iniciar la gestión de 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F3200-E4A8-4BF4-AB39-D9CBF42C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70675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0DF41-63A8-4028-9A49-7537BABBD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17a1ab4c44465"/>
          <a:stretch xmlns:a="http://schemas.openxmlformats.org/drawingml/2006/main"/>
        </p:blipFill>
        <p:spPr>
          <a:xfrm xmlns:a="http://schemas.openxmlformats.org/drawingml/2006/main">
            <a:off x="5037402" y="2162175"/>
            <a:ext cx="5908146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81F8C-29E6-49F2-9534-CA110DDA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2AEB9"/>
                </a:solidFill>
                <a:latin typeface="Arial"/>
                <a:ea typeface="Arial"/>
                <a:cs typeface="Arial"/>
              </a:rPr>
              <a:t>Captura real del módulo de alertas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D66C7-7071-4BC5-B007-C94C466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877CD-3455-4EB2-B7F7-3837949B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58755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D20F0-86BF-436A-935B-F646346C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473F4-8AD6-4D63-A017-F027F0A1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54F2A-BF30-4D29-A935-C927A677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SUNAT y DIGEMID en 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6E55D-DAE7-4D00-B961-AF1B2630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Los módulos reproducen el flujo documental para pruebas y demostración académica.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3B4F-8F3A-44EC-803A-17E2EB69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SUNAT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4EA4A-5538-464B-B4EE-10D83EE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 de XML UBL 2.1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Resumen diario de boletas UBL 2.0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Firma, estados, intentos y respuesta CDR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DC0C3-3F9F-44EB-ADF5-BDF470FB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B6281-E780-4B20-8076-BAC5A41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DIGEMID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A2E8E-F5A9-4060-A275-361EE36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 periódico de precios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Exportación de datos para revisión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 del resultado y constancia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CD75D-61C3-4B7E-9C58-102D1ECE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84536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validez externa requiere credenciales oficiales, certificado digital y aceptación de la entidad correspondiente.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4D096-682E-4D79-AB3C-AAA7A7D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C2EFD-58DC-4904-BC3A-DF6BD7CE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125407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31E1B-1FA2-480F-BDD4-0C61DEC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32699-662D-4F89-89F1-AA1C6D6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64C2B-6783-400F-A4BA-51A746A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Calidad y 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A389C-D1CD-4E2B-8506-A18B9CB0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pruebas y los controles de infraestructura respaldan la demostración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F8047-8C48-443B-975F-809964D4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3ADB7-2B88-4ADC-85C3-60E1D1E5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pruebas backend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A1A5C-CB6C-4554-A415-0E429029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Además: compilación Angular y healthchecks de los tres contenedores.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8D57D-E382-4958-AB90-B411C9CC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1CB57-9AC5-44B2-9AEA-6D404007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1D5B0-967A-483A-8537-E63A7A9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F1330-9A85-4EA1-978F-E24E0E4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Servicios y reglas de negocio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APIs, autenticación y permisos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EBB27-0D0E-4B5E-8008-B0E46030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6F539-9456-43F4-8385-F1EC8A3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402D0-D0CF-4DF1-8B1B-054465A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Compilación Angular correcta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Validaciones y mensajes controlados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6C3D1-D6A3-44D6-A0E2-49E98A5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CF744-C7A9-445E-8F2D-D6F1FA8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INFRAESTRUCTURA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47B24-478F-46C4-808D-640F047E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Docker Compose y healthchecks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Demostración preparada para AWS EC2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7BCF9-E44B-43D6-80F6-109323C9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81575"/>
            <a:ext cx="76962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33350" rIns="133350" bIns="1333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usa migraciones Flyway y el backend valida el esquema antes de iniciar.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72433-56F7-48AF-B640-0061FDE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6504E-5F87-45EC-BADB-69F7FDBE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1646133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4ADE6-17F3-4583-9054-F01CCA47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DFE8B-BAA6-4B5F-A28A-38A1BEC8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CDE2C-4438-4AE3-8A0B-6BA2107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Recomendaciones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A75A-2405-4C8E-BE41-FFCA1D2B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27"/>
          </a:bodyPr>
          <a:lstStyle xmlns:a="http://schemas.openxmlformats.org/drawingml/2006/main">
            <a:def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siguientes acciones mejoran la demostración actual y preparan una evolución segura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85EC3-72D0-4342-9A4C-E08DE19A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ANTES DEL DESPLIEGUE EN EC2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E695B-6381-41BC-AE3E-19D61519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A619D-AEC1-4ADE-8030-291B6E4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Separar secretos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2F788-E7B7-486C-B931-4411AA65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Usar un archivo de entorno fuera del repositorio y renovar tokens expuestos.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0ADBC-E08C-4911-B54B-D7456A30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E6867-FE43-43CF-8451-3C9C1F6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Preparar la demostración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4566F-1ECB-4743-9668-29754065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Cargar datos coherentes y ensayar venta, Kardex, alerta y arqueo.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1B61B-87FC-42BD-A678-28083C8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80A5E-3876-498F-A997-E39EEAD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Asegurar el acceso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F022A-15AE-4D2D-9D93-6ECAD6B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Cambiar contraseñas, habilitar HTTPS y limitar puertos en EC2.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F1930-FCF8-42E9-AC96-8C996041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192C1-0123-4387-ABC4-EEC13D7D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SIGUIENTES MEJORAS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2936A-9B7A-4F92-B740-206727C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EE5D8-D599-4488-89BE-CEB29E4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Automatizar respaldo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851C3-3104-47DD-8208-5013169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Programar copias de PostgreSQL y probar periódicamente su restauración.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2B99D-7955-407F-8C50-7D77DA9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88281-80D3-40F1-811E-D559B84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Ampliar pruebas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06D86-27EF-43E5-B35D-EEF314F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Agregar pruebas E2E para venta, devolución, recepción y cierre de caja.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533EB-67B3-4A49-96E0-340B75D2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6294E-6144-42A9-A6FA-C32F5004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Escalar por etapas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32847-03B5-4A7A-AE76-A470AA86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96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Evaluar sucursales, lectura de códigos y paneles comparativos.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52604B-C8C5-4969-AE6A-4D220E8B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44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Prioridad inmediata: una demostración reproducible, segura y con datos fáciles de explicar.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137B8-6202-4F8F-A6BD-821B78C9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6BD2C-E346-4AB2-AA57-D3E9568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686732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55541-532B-4146-9B7B-D3D8134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9FB9B-101D-4CCC-9BC0-1C11734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38C55-5779-40EB-A6BD-1A79CF94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3FF6B-5583-4B0A-830A-5F48AE8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5"/>
          </a:bodyPr>
          <a:lstStyle xmlns:a="http://schemas.openxmlformats.org/drawingml/2006/main">
            <a:def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8DE"/>
                </a:solidFill>
                <a:latin typeface="Arial"/>
                <a:ea typeface="Arial"/>
                <a:cs typeface="Arial"/>
              </a:rPr>
              <a:t>El sistema integra la operación farmacéutica y deja evidencia de cada movimiento relevante.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091B8-E6DD-4F43-BF89-561C2F1E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DC171-61DB-490A-B8C9-06419B7D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846BA-7361-4276-A3CC-7610736D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Cada entrada, venta, devolución o ajuste conserva usuario, producto, lote y saldos.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18363-0802-44BF-A89A-8622E99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738DD-E777-4CD6-993D-81B7F32F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091F9-091E-4CD7-AC3C-70412000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D0C11-F9F0-43E7-B893-D4F6810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FEFO, Kardex, conteo físico y alertas permiten detectar riesgos antes de que afecten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9AE87-D028-4310-9205-2F7F68D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F6CF0-CF09-46C0-A9C2-517372C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27324-6F8A-4F54-8596-FD6F2759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Operación integrada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57A1E-093B-40D1-A368-E40B89B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Ventas, caja, compras, recetas y reportes comparten reglas y una base de datos común.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9F9E1-130D-4D09-AC3D-7E53E25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7C1FD-B4ED-4E2B-8392-B7956236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71700"/>
            <a:ext cx="57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93EBD-96D1-427B-9F8E-98C977D6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Demostración propuesta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EB970-18BD-4896-A93D-886ADF2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caja, registrar una venta, revisar Kardex y cerrar con arqueo.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6262A-1C08-4ACD-8ACE-62719058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D92B4-50AD-4FC0-BDDC-F078C864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090979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2026-10-20T00:43:23.1500000Z</dcterms:created>
  <dcterms:modified xsi:type="dcterms:W3CDTF">2026-10-20T00:43:23.1500000Z</dcterms:modified>
</coreProperties>
</file>