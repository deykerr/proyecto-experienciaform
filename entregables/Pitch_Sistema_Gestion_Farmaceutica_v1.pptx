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65ff94e9447de" /><Relationship Type="http://schemas.openxmlformats.org/officeDocument/2006/relationships/extended-properties" Target="/docProps/app.xml" Id="R8171375d5b8c4594" /><Relationship Type="http://schemas.openxmlformats.org/officeDocument/2006/relationships/officeDocument" Target="/ppt/presentation.xml" Id="R4d5225b33ce940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cd67673914a43"/>
  </p:sldMasterIdLst>
  <p:notesMasterIdLst>
    <p:notesMasterId xmlns:r="http://schemas.openxmlformats.org/officeDocument/2006/relationships" r:id="R164663401ab34ac8"/>
  </p:notesMasterIdLst>
  <p:sldIdLst>
    <p:sldId xmlns:r="http://schemas.openxmlformats.org/officeDocument/2006/relationships" id="256" r:id="Rf6f13e6abae54bb2"/>
    <p:sldId xmlns:r="http://schemas.openxmlformats.org/officeDocument/2006/relationships" id="257" r:id="R1e31e8ec55254981"/>
    <p:sldId xmlns:r="http://schemas.openxmlformats.org/officeDocument/2006/relationships" id="258" r:id="R66763a1278a34573"/>
    <p:sldId xmlns:r="http://schemas.openxmlformats.org/officeDocument/2006/relationships" id="259" r:id="R6f3d94a592744bad"/>
    <p:sldId xmlns:r="http://schemas.openxmlformats.org/officeDocument/2006/relationships" id="260" r:id="Rd360299f3be14005"/>
    <p:sldId xmlns:r="http://schemas.openxmlformats.org/officeDocument/2006/relationships" id="261" r:id="Rfae702bda8f4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1f4375c314227" /><Relationship Type="http://schemas.openxmlformats.org/officeDocument/2006/relationships/slideMaster" Target="/ppt/slideMasters/slideMaster1.xml" Id="Rf25cd67673914a43" /><Relationship Type="http://schemas.openxmlformats.org/officeDocument/2006/relationships/notesMaster" Target="/ppt/notesMasters/notesMaster1.xml" Id="R164663401ab34ac8" /><Relationship Type="http://schemas.openxmlformats.org/officeDocument/2006/relationships/presProps" Target="/ppt/presProps.xml" Id="Rec96ab72c7de4b8d" /><Relationship Type="http://schemas.openxmlformats.org/officeDocument/2006/relationships/tableStyles" Target="/ppt/tableStyles.xml" Id="R4bfc7321bf2d4651" /><Relationship Type="http://schemas.openxmlformats.org/officeDocument/2006/relationships/slide" Target="/ppt/slides/slide1.xml" Id="Rf6f13e6abae54bb2" /><Relationship Type="http://schemas.openxmlformats.org/officeDocument/2006/relationships/slide" Target="/ppt/slides/slide2.xml" Id="R1e31e8ec55254981" /><Relationship Type="http://schemas.openxmlformats.org/officeDocument/2006/relationships/slide" Target="/ppt/slides/slide3.xml" Id="R66763a1278a34573" /><Relationship Type="http://schemas.openxmlformats.org/officeDocument/2006/relationships/slide" Target="/ppt/slides/slide4.xml" Id="R6f3d94a592744bad" /><Relationship Type="http://schemas.openxmlformats.org/officeDocument/2006/relationships/slide" Target="/ppt/slides/slide5.xml" Id="Rd360299f3be14005" /><Relationship Type="http://schemas.openxmlformats.org/officeDocument/2006/relationships/slide" Target="/ppt/slides/slide6.xml" Id="Rfae702bda8f4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f2be57d059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56f32f4e84f72" /><Relationship Type="http://schemas.openxmlformats.org/officeDocument/2006/relationships/notesMaster" Target="/ppt/notesMasters/notesMaster1.xml" Id="R8112204b6966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80f0235cf446c2" /><Relationship Type="http://schemas.openxmlformats.org/officeDocument/2006/relationships/notesMaster" Target="/ppt/notesMasters/notesMaster1.xml" Id="Re80135d4adc4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4dc4cc8eb4b65" /><Relationship Type="http://schemas.openxmlformats.org/officeDocument/2006/relationships/notesMaster" Target="/ppt/notesMasters/notesMaster1.xml" Id="R5adcc2d2e6f7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a481da3b904baf" /><Relationship Type="http://schemas.openxmlformats.org/officeDocument/2006/relationships/notesMaster" Target="/ppt/notesMasters/notesMaster1.xml" Id="R7fa8686bc5d0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0b11ae89b403f" /><Relationship Type="http://schemas.openxmlformats.org/officeDocument/2006/relationships/notesMaster" Target="/ppt/notesMasters/notesMaster1.xml" Id="Ra2f2b11fa7d2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5caa7be2e430a" /><Relationship Type="http://schemas.openxmlformats.org/officeDocument/2006/relationships/notesMaster" Target="/ppt/notesMasters/notesMaster1.xml" Id="Rc55b2ff2b9b7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Buenos días. Presentamos un sistema integral de gestión farmacéutica pensado para boticas independientes y pequeñas cadenas. El proyecto conecta inventario, ventas, caja y cumplimiento en una sola operación. Nuestro objetivo es sencillo: que el responsable del negocio tome decisiones antes de quedarse sin stock, perder productos por vencimiento o encontrar diferencias al cerrar caja.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visual: ilustración original generada para esta presentación. No representa un establecimiento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problema no consiste únicamente en registrar una venta. En el trabajo diario aparecen cuatro fallas conectadas. Primero, el stock del sistema puede diferir del stock físico. Segundo, los lotes próximos a vencer no siempre reciben atención a tiempo. Tercero, compras, ventas, devoluciones y caja suelen gestionarse por separado. Finalmente, los reportes requieren consolidación manual. Estas fallas generan pérdidas evitables y hacen que el responsable reaccione cuando el problema ya ocurrió.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Nuestro primer segmento son las boticas independientes de un local. En ellas, el propietario o administrador participa directamente en la operación y percibe de inmediato una diferencia de stock o un cierre de caja incorrecto. El mismo producto puede crecer hacia pequeñas cadenas de dos a cinco locales. Los usuarios diarios son el cajero y el almacenero, cada uno con permisos específicos, mientras el administrador conserva la visión completa del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solución reúne los flujos que normalmente están separados. El punto de venta se conecta con caja y comprobantes. El inventario trabaja por lotes y prioriza la salida de los productos que vencen primero. Las compras actualizan existencias mediante recepción, mientras las devoluciones mantienen la trazabilidad. El sistema también gestiona recetas, anulaciones, conteos y arqueos. La pantalla muestra un módulo real de alertas que identifica stock crítico, productos agotados y lotes por vencer.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visual: captura del sistema ejecutado localmente con datos de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propuesta de valor se concentra en anticipar problemas. Las alertas permiten actuar sobre stock y vencimientos. El Kardex y los permisos por rol documentan las decisiones. Los flujos conectados reducen la necesidad de volver a registrar la misma operación en distintos lugares. Como hipótesis comercial proponemos un plan base de 99 soles mensuales por local y una implementación inicial de 250 soles. Este precio todavía debe validarse durante el piloto con clientes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proyecto ya cuenta con una aplicación web funcional, despliegue mediante Docker, perfiles por rol y una suite de 16 pruebas automatizadas correctas. Esto permite pasar a una prueba controlada. Buscamos tres boticas para un piloto de 30 días. Antes de iniciar registraremos una línea base y luego mediremos quiebres de stock, productos próximos a vencer, diferencias de inventario y tiempo de cierre de caja. Con esos resultados podremos validar el precio, priorizar mejoras y decidir la expansión.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Nota: la operación SUNAT y DIGEMID en producción requiere credenciales, validación y los procesos de homologación aplicables.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48a01af8d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c547363f52499c" /><Relationship Type="http://schemas.openxmlformats.org/officeDocument/2006/relationships/slideLayout" Target="/ppt/slideLayouts/slideLayout1.xml" Id="R54bf7561c9d044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f7561c9d044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f15cade9e4ccd" /><Relationship Type="http://schemas.openxmlformats.org/officeDocument/2006/relationships/image" Target="/ppt/media/image.png" Id="R85249af467834fb5" /><Relationship Type="http://schemas.openxmlformats.org/officeDocument/2006/relationships/notesSlide" Target="/ppt/notesSlides/notesSlide1.xml" Id="R683b04c2c5214a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31006c494599" /><Relationship Type="http://schemas.openxmlformats.org/officeDocument/2006/relationships/notesSlide" Target="/ppt/notesSlides/notesSlide2.xml" Id="Rc0ba650c5046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f9e7f985b4c95" /><Relationship Type="http://schemas.openxmlformats.org/officeDocument/2006/relationships/notesSlide" Target="/ppt/notesSlides/notesSlide3.xml" Id="R743a999fa3de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1c7f3f8984689" /><Relationship Type="http://schemas.openxmlformats.org/officeDocument/2006/relationships/image" Target="/ppt/media/image2.png" Id="R75761b4b81f64cf0" /><Relationship Type="http://schemas.openxmlformats.org/officeDocument/2006/relationships/notesSlide" Target="/ppt/notesSlides/notesSlide4.xml" Id="R8c5a301332da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20575189a410e" /><Relationship Type="http://schemas.openxmlformats.org/officeDocument/2006/relationships/notesSlide" Target="/ppt/notesSlides/notesSlide5.xml" Id="Rb82a82c5b6e9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87b83fd514306" /><Relationship Type="http://schemas.openxmlformats.org/officeDocument/2006/relationships/notesSlide" Target="/ppt/notesSlides/notesSlide6.xml" Id="R85e8855270354e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49af467834f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8762A-1EC5-4807-BF00-D4FBE6E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A0C1C-1E34-48C5-BC50-6891D46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220BA-CDC0-425F-A034-45E86B0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ELEVATOR PITCH · 5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F7BAD-F6C8-4999-8D89-9F075DE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Integral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Gestión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Farmacéutica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89673-CF07-4223-85B3-166B85F8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6E9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E9EF"/>
                </a:solidFill>
                <a:latin typeface="Arial"/>
                <a:ea typeface="Arial"/>
                <a:cs typeface="Arial"/>
              </a:rPr>
              <a:t>Control de inventario, ventas y cumplimiento para boticas y farmacias independientes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A586F-CCBD-405E-902A-2609A967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Una operación conectada. Decisiones a tiempo.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E15C-C61A-4566-AFB4-376F2C21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67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4B6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4B6C4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100722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E3D3C-D842-4945-9FE7-21812A52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8635-59FF-4EC6-9B84-F35837CD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2406-71DF-44F9-96EA-2451678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El problema operativo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9AF34-1A8F-4DF8-8491-6C6287BC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477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información existe, pero llega tarde o queda separada entre cuadernos, hojas de cálculo y sistemas parciales.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B24CA-1F64-4F15-8043-AEC6168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096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A1639-5D1B-4E16-B8FF-9314314D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5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9C47E-9D2B-433E-B60F-76EF4127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DC5A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C5A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61F3B-BB70-4F61-994C-4A4D9DF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89645-8C1E-4692-A438-D23654C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El sistema indica existencias que no siempre coinciden con el anaquel.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AFDD7-AB22-4E62-9C43-146B9D6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12805-A12B-4D60-80A1-98BA6DBC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C7317-31CE-4767-918D-B865AAFA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Lotes que vencen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9CB56-1917-494E-9B93-B5FC469A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alerta llega cuando el producto ya perdió valor o no puede venderse.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9EEAC-2EB2-41B5-8B64-4560D3D5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88EEF-A261-465B-8234-F0B09C9E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FDC16-2D18-45B0-8400-C89618B6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Flujos separados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D4E7A-3496-4813-B962-C6F1946A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Compras, ventas, devoluciones y caja no comparten la misma trazabilidad.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630F7-BE09-49F2-BA05-A4F24A31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3A51C-35BC-4778-873B-4DA09154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B0CF5-237A-4A99-94BC-941C1F3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Reporte manual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A1830-9ED1-414E-8C72-5F4658A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Preparar información para control interno y entidades externas consume tiempo.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815F5-8D5C-4C3C-8500-3613C77D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10722-2C80-4EAB-B539-1EA991C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resultado: pérdidas evitables y decisiones tardías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CE0FC-19BB-40F3-8F88-BC0891A2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E02A8-4C98-4E97-9E09-D3113764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292546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F8298-EB76-4DB9-BCEC-247CBF87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04669-B088-4B19-9B21-82DD0C74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11DF0-85B0-4B32-81C2-1D44F89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Segmento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43D7F-F91B-4522-87CE-A5E462F7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28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Empezamos donde el control operativo tiene impacto inmediato y la adopción puede ser simple.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BCB94-C41A-47FC-8090-9444BD9C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FF333-F187-476C-9677-87C98E4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57425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A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AB93A-42A5-4DAF-AE32-B2F5D273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CEF63-2619-47B0-AC7A-F7E65B2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2–5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locales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AAA72-A18E-4461-BD51-FD51396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6828B-2E71-440B-8337-EADA5C8F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Boticas independientes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5C508-4F7A-4865-BECA-20FFDC5F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Pequeñas cadenas como siguiente etapa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506AF-F41F-4BAA-BD3E-03E3583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B9805-5BA6-4309-A016-1A173FE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Cliente que 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0771F-FE09-44B2-AC61-D616B3C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Propietario o administrador que necesita visibilidad sin crear un área de TI.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3C7CC-E095-45E5-8C0B-44FEA658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D0FD7-EAE6-48BB-B111-34C5913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Usuarios diarios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AB217-9C09-4ADF-9580-D966D891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Cajero y almacenero trabajan con permisos distintos y un registro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5735E-454C-4275-9C46-7896D631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DD3C6-66E7-401A-AF9D-A0828BE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Necesidad prioritaria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42463-1B10-4981-9277-C52EF92B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Controlar stock, vencimientos y caja antes de ampliar el número de locales.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5AEC8-B2B5-4D38-B063-86037F9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F53F9-5611-4EC6-A232-B0CA7D71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367951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B47B5-8637-4295-B8EC-0FE0804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DD005-1460-422B-8922-24BB32F7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6B6D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B7137-CB7D-444F-9144-83FA884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7C09F-EBD1-48A9-96AC-E60DAE0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287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8DC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CE4"/>
                </a:solidFill>
                <a:latin typeface="Arial"/>
                <a:ea typeface="Arial"/>
                <a:cs typeface="Arial"/>
              </a:rPr>
              <a:t>Un sistema web que conecta la operación completa y convierte los movimientos diarios en información útil.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CC56E-5763-4A5E-9A12-497FDC7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C7CC9-7EA9-4162-BFB4-0F4E3B69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Ventas, comprobantes y caja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CCD1E-1D2F-462D-9D5D-7E88730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5F36C-B3E4-4CE4-AE08-503BF812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DE218-BBD2-4292-8123-56FF211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 por lote con salida FEFO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24094-14C7-4351-BA5E-3162AB3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4414C-60FF-472D-8777-2B2CF478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A7945-CA4A-4FBE-9313-8B9D0E8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Compras, recepción y devoluciones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1EB43-5DFC-426A-B062-0D4AA5E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D8330-2BD0-4974-A685-5E20268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E8AC7-8C1F-4EE8-A360-52FC38A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Recetas, anulaciones y arqueo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0051F-B278-474D-A2E6-F7F484AE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719B2-8BF2-497C-B2EC-FCF0A84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446C3-F2B2-4CC5-87BB-EBC6CFC6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Alertas, reportes y cumplimiento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11FF0-6867-4C2E-B09A-3E7CD08B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33550"/>
            <a:ext cx="61912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61b4b81f64cf0"/>
          <a:srcRect xmlns:a="http://schemas.openxmlformats.org/drawingml/2006/main" l="0" t="1677" r="0" b="1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1847850"/>
            <a:ext cx="596265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FE853-20F4-4019-8C17-2CF3B1F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FB0B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B0BD"/>
                </a:solidFill>
                <a:latin typeface="Arial"/>
                <a:ea typeface="Arial"/>
                <a:cs typeface="Arial"/>
              </a:rPr>
              <a:t>Captura del módulo de alertas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9A0D4-A3D0-44F6-88E2-F87A5AD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34A90-4C70-4ABD-8BA7-D76C352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857748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D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689DD-C41D-409F-8A24-8E053FB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C7745-7D26-407D-BED2-BE54D142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24D6E-FE20-4F74-8293-B9C88EAE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Valor y precio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5586D-88CB-4A93-AC2A-F81F455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Anticipar antes de perder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5DDA5-6131-4DD3-A731-9A59E2F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El sistema ayuda a detectar riesgos, documentar decisiones y mantener una operación coherente entre 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44246-79FA-4E84-9954-3D6D9579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C5A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C5A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C9092-4530-4D07-88FA-7B464D8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242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Menos reacción tardía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E6CE9-36D2-4874-8BE8-3214938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Las alertas muestran stock crítico y lotes próximos a vencer.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F6C87-03CB-4F35-85C1-611510AA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D8DC6-E9A2-459D-9138-978C56E8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291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Mayor trazabilidad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6A7E8-F75F-40B6-9A92-68471B6A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Kardex, usuarios y documentos registran el origen de cada movimiento.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F8CAE-535C-4BC5-BE77-F1FB6F7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DCFEC-C0D1-4FBC-A978-D21444EC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Operación conectada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A889A-C687-4128-A3A4-1A123EC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388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Una compra recibida o una devolución actualiza el inventario relacionado.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857D4-7BF4-4313-8C96-0C06414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19200"/>
            <a:ext cx="4400550" cy="46863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0B1F4-5BDA-490A-8D14-6BDFD1B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PLAN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D615C-860B-4E7A-8017-1A17481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S/ 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9A22F-E57F-4797-96D4-F8C3246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C9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E0E7"/>
                </a:solidFill>
                <a:latin typeface="Arial"/>
                <a:ea typeface="Arial"/>
                <a:cs typeface="Arial"/>
              </a:rPr>
              <a:t>por local al 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A93B7-BD6E-4262-BE4D-5EA442D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300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5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20891-2DDB-4621-84E1-A7C95027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8100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Inventario por lotes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 y caja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para tres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A68A4-385C-49CD-B6C0-10D7476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Implementación inicial: S/ 250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779C4-D662-4720-9995-593C6966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Hipótesis comercial para validar durante el piloto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25AD9-5ECB-419B-BA30-66DCBA6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36DAC-4736-4EFB-AA8E-7508E00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30009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44429-CBC8-411A-A703-A47CFF81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49AC3-BCF1-4F66-8ED8-B513C768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59A76-205C-4558-93AB-25ED878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Viabilidad y próximo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F193B-067F-4BC8-9143-9D1500EB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El producto ya puede entrar a una prueba controlada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081B9-AF1A-4446-8C82-4F62D2E4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validación debe medir resultados operativos antes de ampliar funciones o locales.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4F18-3113-4168-9302-7BE00A05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503B-4014-4889-B9F5-BAAD541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0BC72-C3F3-4582-9D55-FD1281FE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90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7DFEC-0154-45D5-B90B-03C488E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24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AF20-E463-41F1-8808-D5F69CCA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Aplicación web y despliegue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6D644-590A-4A74-8BC1-7C1E3E2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FD7AE-B34C-443D-B7BA-677DF798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00AF5-7686-45D3-84B2-FD80AC31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90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75C94-AADF-4A1F-A19F-70D163C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33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9C4DE-A1DD-423E-9A3B-1636E5A6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16 pruebas automatizadas correctas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13526-63FA-403C-8F6F-A7B210DA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E04B2-DD9D-4A27-A935-44A92AD5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B50DA-4AE0-446A-A726-7D4CCADC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PILOTO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18B61-8275-40F4-AC82-7DE22791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30 días en operación supervisada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9351D-21FA-4451-904D-CA86536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23950"/>
            <a:ext cx="4438650" cy="4857750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323F6-AE2E-4174-A0CF-C41F8178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BUSCAMOS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CDC6A-1634-4F90-B755-084BC81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46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boticas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BF1E0-F179-40CB-87FE-79A69F2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9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E0E7"/>
                </a:solidFill>
                <a:latin typeface="Arial"/>
                <a:ea typeface="Arial"/>
                <a:cs typeface="Arial"/>
              </a:rPr>
              <a:t>para un piloto de 30 días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995C3-B800-4F64-9A48-ADB775E9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308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56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C3FE9-8FEA-44E9-92FF-790A03F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Mediremos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7DCC1-7ADE-453E-B408-F9217EF3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3276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Quiebres de stock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Productos próximos a vencer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Diferencias de inventario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Tiempo de cierre de caja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04419-A6D2-47D7-AA78-87AF762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Próximo paso: seleccionar los establecimientos y fijar la línea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57135-EA71-4759-B01C-2C9FFA8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8B164-9B56-4B56-A1DF-AB9643C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1417252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2026-09-21T22:14:10.1530000Z</dcterms:created>
  <dcterms:modified xsi:type="dcterms:W3CDTF">2026-09-21T22:14:10.1530000Z</dcterms:modified>
</coreProperties>
</file>