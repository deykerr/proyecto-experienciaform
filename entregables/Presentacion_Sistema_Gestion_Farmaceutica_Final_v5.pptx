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96fe864954a62" /><Relationship Type="http://schemas.openxmlformats.org/officeDocument/2006/relationships/extended-properties" Target="/docProps/app.xml" Id="Rdc659d60e4bd4c61" /><Relationship Type="http://schemas.openxmlformats.org/officeDocument/2006/relationships/officeDocument" Target="/ppt/presentation.xml" Id="R66b6d46f30bf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41d8481bc47ff"/>
  </p:sldMasterIdLst>
  <p:notesMasterIdLst>
    <p:notesMasterId xmlns:r="http://schemas.openxmlformats.org/officeDocument/2006/relationships" r:id="R73b5de239f574858"/>
  </p:notesMasterIdLst>
  <p:sldIdLst>
    <p:sldId xmlns:r="http://schemas.openxmlformats.org/officeDocument/2006/relationships" id="256" r:id="R7ae63c12e53e4d24"/>
    <p:sldId xmlns:r="http://schemas.openxmlformats.org/officeDocument/2006/relationships" id="257" r:id="R8f000c6a98704937"/>
    <p:sldId xmlns:r="http://schemas.openxmlformats.org/officeDocument/2006/relationships" id="258" r:id="Rcbb45f2051ed410a"/>
    <p:sldId xmlns:r="http://schemas.openxmlformats.org/officeDocument/2006/relationships" id="259" r:id="R9eb3229579664d90"/>
    <p:sldId xmlns:r="http://schemas.openxmlformats.org/officeDocument/2006/relationships" id="260" r:id="Ra639fd04dfd643a8"/>
    <p:sldId xmlns:r="http://schemas.openxmlformats.org/officeDocument/2006/relationships" id="261" r:id="Rc6a74e35827f441b"/>
    <p:sldId xmlns:r="http://schemas.openxmlformats.org/officeDocument/2006/relationships" id="262" r:id="Rd1dd264993b14fb4"/>
    <p:sldId xmlns:r="http://schemas.openxmlformats.org/officeDocument/2006/relationships" id="263" r:id="R5c44f367dba8407c"/>
    <p:sldId xmlns:r="http://schemas.openxmlformats.org/officeDocument/2006/relationships" id="264" r:id="R6bf3263c4d254334"/>
    <p:sldId xmlns:r="http://schemas.openxmlformats.org/officeDocument/2006/relationships" id="265" r:id="Rd6b1ecdab5134329"/>
    <p:sldId xmlns:r="http://schemas.openxmlformats.org/officeDocument/2006/relationships" id="266" r:id="R4bb2cd2fce6c4fea"/>
    <p:sldId xmlns:r="http://schemas.openxmlformats.org/officeDocument/2006/relationships" id="267" r:id="R7c97e1ec026d4c0d"/>
    <p:sldId xmlns:r="http://schemas.openxmlformats.org/officeDocument/2006/relationships" id="268" r:id="Rbb55aa9b073b4e11"/>
    <p:sldId xmlns:r="http://schemas.openxmlformats.org/officeDocument/2006/relationships" id="269" r:id="Rc49a388e8cac4f26"/>
    <p:sldId xmlns:r="http://schemas.openxmlformats.org/officeDocument/2006/relationships" id="270" r:id="R406a96ead1934593"/>
    <p:sldId xmlns:r="http://schemas.openxmlformats.org/officeDocument/2006/relationships" id="271" r:id="Rcf4e3700c1804c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ac367c4de4c3e" /><Relationship Type="http://schemas.openxmlformats.org/officeDocument/2006/relationships/slideMaster" Target="/ppt/slideMasters/slideMaster1.xml" Id="Rd0d41d8481bc47ff" /><Relationship Type="http://schemas.openxmlformats.org/officeDocument/2006/relationships/notesMaster" Target="/ppt/notesMasters/notesMaster1.xml" Id="R73b5de239f574858" /><Relationship Type="http://schemas.openxmlformats.org/officeDocument/2006/relationships/presProps" Target="/ppt/presProps.xml" Id="R383e2a7c163746b4" /><Relationship Type="http://schemas.openxmlformats.org/officeDocument/2006/relationships/tableStyles" Target="/ppt/tableStyles.xml" Id="R5a28955bbb404b71" /><Relationship Type="http://schemas.openxmlformats.org/officeDocument/2006/relationships/slide" Target="/ppt/slides/slide1.xml" Id="R7ae63c12e53e4d24" /><Relationship Type="http://schemas.openxmlformats.org/officeDocument/2006/relationships/slide" Target="/ppt/slides/slide2.xml" Id="R8f000c6a98704937" /><Relationship Type="http://schemas.openxmlformats.org/officeDocument/2006/relationships/slide" Target="/ppt/slides/slide3.xml" Id="Rcbb45f2051ed410a" /><Relationship Type="http://schemas.openxmlformats.org/officeDocument/2006/relationships/slide" Target="/ppt/slides/slide4.xml" Id="R9eb3229579664d90" /><Relationship Type="http://schemas.openxmlformats.org/officeDocument/2006/relationships/slide" Target="/ppt/slides/slide5.xml" Id="Ra639fd04dfd643a8" /><Relationship Type="http://schemas.openxmlformats.org/officeDocument/2006/relationships/slide" Target="/ppt/slides/slide6.xml" Id="Rc6a74e35827f441b" /><Relationship Type="http://schemas.openxmlformats.org/officeDocument/2006/relationships/slide" Target="/ppt/slides/slide7.xml" Id="Rd1dd264993b14fb4" /><Relationship Type="http://schemas.openxmlformats.org/officeDocument/2006/relationships/slide" Target="/ppt/slides/slide8.xml" Id="R5c44f367dba8407c" /><Relationship Type="http://schemas.openxmlformats.org/officeDocument/2006/relationships/slide" Target="/ppt/slides/slide9.xml" Id="R6bf3263c4d254334" /><Relationship Type="http://schemas.openxmlformats.org/officeDocument/2006/relationships/slide" Target="/ppt/slides/slide10.xml" Id="Rd6b1ecdab5134329" /><Relationship Type="http://schemas.openxmlformats.org/officeDocument/2006/relationships/slide" Target="/ppt/slides/slide11.xml" Id="R4bb2cd2fce6c4fea" /><Relationship Type="http://schemas.openxmlformats.org/officeDocument/2006/relationships/slide" Target="/ppt/slides/slide12.xml" Id="R7c97e1ec026d4c0d" /><Relationship Type="http://schemas.openxmlformats.org/officeDocument/2006/relationships/slide" Target="/ppt/slides/slide13.xml" Id="Rbb55aa9b073b4e11" /><Relationship Type="http://schemas.openxmlformats.org/officeDocument/2006/relationships/slide" Target="/ppt/slides/slide14.xml" Id="Rc49a388e8cac4f26" /><Relationship Type="http://schemas.openxmlformats.org/officeDocument/2006/relationships/slide" Target="/ppt/slides/slide15.xml" Id="R406a96ead1934593" /><Relationship Type="http://schemas.openxmlformats.org/officeDocument/2006/relationships/slide" Target="/ppt/slides/slide16.xml" Id="Rcf4e3700c1804c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59dcc915b642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ca8a2b60d42ef" /><Relationship Type="http://schemas.openxmlformats.org/officeDocument/2006/relationships/notesMaster" Target="/ppt/notesMasters/notesMaster1.xml" Id="R1320621dd17a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2ecb5e4104e76" /><Relationship Type="http://schemas.openxmlformats.org/officeDocument/2006/relationships/notesMaster" Target="/ppt/notesMasters/notesMaster1.xml" Id="Rc4e8f6960f9b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efb368efd5485d" /><Relationship Type="http://schemas.openxmlformats.org/officeDocument/2006/relationships/notesMaster" Target="/ppt/notesMasters/notesMaster1.xml" Id="R8212d6aaee88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945fe478da4142" /><Relationship Type="http://schemas.openxmlformats.org/officeDocument/2006/relationships/notesMaster" Target="/ppt/notesMasters/notesMaster1.xml" Id="Rea523b3624a9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2ddb1e1ce4ce6" /><Relationship Type="http://schemas.openxmlformats.org/officeDocument/2006/relationships/notesMaster" Target="/ppt/notesMasters/notesMaster1.xml" Id="Rbd798722df9946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317b4334d4554" /><Relationship Type="http://schemas.openxmlformats.org/officeDocument/2006/relationships/notesMaster" Target="/ppt/notesMasters/notesMaster1.xml" Id="Re0e38419bf4b4b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ce32520bd48ea" /><Relationship Type="http://schemas.openxmlformats.org/officeDocument/2006/relationships/notesMaster" Target="/ppt/notesMasters/notesMaster1.xml" Id="R79b621107b474d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a078888f21478e" /><Relationship Type="http://schemas.openxmlformats.org/officeDocument/2006/relationships/notesMaster" Target="/ppt/notesMasters/notesMaster1.xml" Id="R03a095e684c141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52a356809045dd" /><Relationship Type="http://schemas.openxmlformats.org/officeDocument/2006/relationships/notesMaster" Target="/ppt/notesMasters/notesMaster1.xml" Id="Rcd0f8e1f50184e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afed594c24b75" /><Relationship Type="http://schemas.openxmlformats.org/officeDocument/2006/relationships/notesMaster" Target="/ppt/notesMasters/notesMaster1.xml" Id="R192dd7b2296544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6912e5932a485f" /><Relationship Type="http://schemas.openxmlformats.org/officeDocument/2006/relationships/notesMaster" Target="/ppt/notesMasters/notesMaster1.xml" Id="R8ee2ce608b0347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c0e00cb364298" /><Relationship Type="http://schemas.openxmlformats.org/officeDocument/2006/relationships/notesMaster" Target="/ppt/notesMasters/notesMaster1.xml" Id="Re31165e9a63543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e0592f738348f0" /><Relationship Type="http://schemas.openxmlformats.org/officeDocument/2006/relationships/notesMaster" Target="/ppt/notesMasters/notesMaster1.xml" Id="R9fd34d67286948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dbfe85c5f84d19" /><Relationship Type="http://schemas.openxmlformats.org/officeDocument/2006/relationships/notesMaster" Target="/ppt/notesMasters/notesMaster1.xml" Id="Rbfdfe7625bea4d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854d15c20446ae" /><Relationship Type="http://schemas.openxmlformats.org/officeDocument/2006/relationships/notesMaster" Target="/ppt/notesMasters/notesMaster1.xml" Id="R9ceb2cfed6f143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6f4321febb4d65" /><Relationship Type="http://schemas.openxmlformats.org/officeDocument/2006/relationships/notesMaster" Target="/ppt/notesMasters/notesMaster1.xml" Id="R062839e1ff11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cffa72c2842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8373924814a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65ffa566640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294e3a32446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e20249e034c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d3f38c39f4f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E77E47-48BC-4380-8820-D26488F78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3E4EFD-F8F6-4292-9EB4-82E5B6F34D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D0DD47-F90A-4B95-A40B-9EA8C7322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8C61B4-25D1-46CC-A5B3-FAD462E70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9721BA-CBD9-489A-A640-D682A5E52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7F28C4-6790-4875-83C0-AC7CC6AC9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177B6E-F42C-479E-A56F-0EBC3D2E5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DF5A2A-EF28-427C-9035-E002030FED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0BEF0-1668-4F75-B8D1-699FFE9B6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1B49E0-F4DF-4B6F-8CD3-590CD60CB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142e3e8cf04934" /><Relationship Type="http://schemas.openxmlformats.org/officeDocument/2006/relationships/slideLayout" Target="/ppt/slideLayouts/slideLayout1.xml" Id="Rd2fe11c34e654cef" /><Relationship Type="http://schemas.openxmlformats.org/officeDocument/2006/relationships/slideLayout" Target="/ppt/slideLayouts/slideLayout2.xml" Id="R927545cc659244c1" /><Relationship Type="http://schemas.openxmlformats.org/officeDocument/2006/relationships/slideLayout" Target="/ppt/slideLayouts/slideLayout3.xml" Id="R3a19d80b5b4e490d" /><Relationship Type="http://schemas.openxmlformats.org/officeDocument/2006/relationships/slideLayout" Target="/ppt/slideLayouts/slideLayout4.xml" Id="Rdd96a8e95e2a4525" /><Relationship Type="http://schemas.openxmlformats.org/officeDocument/2006/relationships/slideLayout" Target="/ppt/slideLayouts/slideLayout5.xml" Id="R941b34df8c414cc0" /><Relationship Type="http://schemas.openxmlformats.org/officeDocument/2006/relationships/slideLayout" Target="/ppt/slideLayouts/slideLayout6.xml" Id="Rc08e3cbdb5f54b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e11c34e654cef"/>
    <p:sldLayoutId xmlns:r="http://schemas.openxmlformats.org/officeDocument/2006/relationships" id="2147483650" r:id="R927545cc659244c1"/>
    <p:sldLayoutId xmlns:r="http://schemas.openxmlformats.org/officeDocument/2006/relationships" id="2147483651" r:id="R3a19d80b5b4e490d"/>
    <p:sldLayoutId xmlns:r="http://schemas.openxmlformats.org/officeDocument/2006/relationships" id="2147483652" r:id="Rdd96a8e95e2a4525"/>
    <p:sldLayoutId xmlns:r="http://schemas.openxmlformats.org/officeDocument/2006/relationships" id="2147483653" r:id="R941b34df8c414cc0"/>
    <p:sldLayoutId xmlns:r="http://schemas.openxmlformats.org/officeDocument/2006/relationships" id="2147483654" r:id="Rc08e3cbdb5f54b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76144ef9b456b" /><Relationship Type="http://schemas.openxmlformats.org/officeDocument/2006/relationships/image" Target="/ppt/media/image.png" Id="R705a2105defc4aba" /><Relationship Type="http://schemas.openxmlformats.org/officeDocument/2006/relationships/image" Target="/ppt/media/image.jpeg" Id="R1cafcd8832ee4c38" /><Relationship Type="http://schemas.openxmlformats.org/officeDocument/2006/relationships/notesSlide" Target="/ppt/notesSlides/notesSlide1.xml" Id="R86a4e6f21c324d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b430c096b46b8" /><Relationship Type="http://schemas.openxmlformats.org/officeDocument/2006/relationships/notesSlide" Target="/ppt/notesSlides/notesSlide2.xml" Id="R24b3d90e1495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8a640657b4103" /><Relationship Type="http://schemas.openxmlformats.org/officeDocument/2006/relationships/notesSlide" Target="/ppt/notesSlides/notesSlide3.xml" Id="R7e29151e8a444e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29491095d44da" /><Relationship Type="http://schemas.openxmlformats.org/officeDocument/2006/relationships/notesSlide" Target="/ppt/notesSlides/notesSlide4.xml" Id="R55f4e5ac081442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b2df491684bc9" /><Relationship Type="http://schemas.openxmlformats.org/officeDocument/2006/relationships/notesSlide" Target="/ppt/notesSlides/notesSlide5.xml" Id="R0b58bc8dc697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7cdd53f324b3e" /><Relationship Type="http://schemas.openxmlformats.org/officeDocument/2006/relationships/notesSlide" Target="/ppt/notesSlides/notesSlide6.xml" Id="R28acef4b59e2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494a51fa346e3" /><Relationship Type="http://schemas.openxmlformats.org/officeDocument/2006/relationships/notesSlide" Target="/ppt/notesSlides/notesSlide7.xml" Id="R6053af6d66d64a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3527fd8084b80" /><Relationship Type="http://schemas.openxmlformats.org/officeDocument/2006/relationships/notesSlide" Target="/ppt/notesSlides/notesSlide8.xml" Id="R603661c9d83d47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be1ed0516474f" /><Relationship Type="http://schemas.openxmlformats.org/officeDocument/2006/relationships/notesSlide" Target="/ppt/notesSlides/notesSlide9.xml" Id="Re5412a4a6d1645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be4a619c27445c" /><Relationship Type="http://schemas.openxmlformats.org/officeDocument/2006/relationships/notesSlide" Target="/ppt/notesSlides/notesSlide10.xml" Id="R656304ae7e0944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5d8fdc3f7484a" /><Relationship Type="http://schemas.openxmlformats.org/officeDocument/2006/relationships/notesSlide" Target="/ppt/notesSlides/notesSlide11.xml" Id="Rb935cd4479d849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d6cc3e4c54c31" /><Relationship Type="http://schemas.openxmlformats.org/officeDocument/2006/relationships/image" Target="/ppt/media/image2.png" Id="R37c4c1dfaeb64ffe" /><Relationship Type="http://schemas.openxmlformats.org/officeDocument/2006/relationships/notesSlide" Target="/ppt/notesSlides/notesSlide12.xml" Id="Rbdb82e92f4ca4f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93ce9f094497c" /><Relationship Type="http://schemas.openxmlformats.org/officeDocument/2006/relationships/notesSlide" Target="/ppt/notesSlides/notesSlide13.xml" Id="R2101e2abaf5a45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e38097e6e4a1c" /><Relationship Type="http://schemas.openxmlformats.org/officeDocument/2006/relationships/notesSlide" Target="/ppt/notesSlides/notesSlide14.xml" Id="R1002fa70ad284d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a93006b254aab" /><Relationship Type="http://schemas.openxmlformats.org/officeDocument/2006/relationships/notesSlide" Target="/ppt/notesSlides/notesSlide15.xml" Id="Rd43aefbe712f48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a8cc0ff3a4371" /><Relationship Type="http://schemas.openxmlformats.org/officeDocument/2006/relationships/notesSlide" Target="/ppt/notesSlides/notesSlide16.xml" Id="Rf6cd7ea51a4c4b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F5AAC-F034-4FB8-A3DD-A3B5DCC441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a2105defc4aba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34DE4-3E27-481A-B955-8BA6434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2A529-9965-4766-9921-CADFCC9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7EB0-AF11-487C-9FFF-E64DF55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7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E29C5-B3BE-4130-BB32-921A929E8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fcd8832ee4c38"/>
          <a:stretch xmlns:a="http://schemas.openxmlformats.org/drawingml/2006/main"/>
        </p:blipFill>
        <p:spPr>
          <a:xfrm xmlns:a="http://schemas.openxmlformats.org/drawingml/2006/main">
            <a:off x="876300" y="440924"/>
            <a:ext cx="1143000" cy="5659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8F548-F32F-4E6B-BABA-72BB39B5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5A9E-657E-4545-BBFE-2B651F8C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farmacéutica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B16E7-ECDC-47C1-B0A5-800A42C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5EA"/>
                </a:solidFill>
                <a:latin typeface="Arial"/>
                <a:ea typeface="Arial"/>
                <a:cs typeface="Arial"/>
              </a:rPr>
              <a:t>Proyecto aplicado a la Botica Virgen del Carmen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98EBB-1C50-4F19-9588-518738C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Angular 18 · Spring Boot 3.4.5 · PostgreSQL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F26B5-F6DB-49DE-9212-B6A14DC1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Jhosetd Deyker Gamboa Quispe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Juan Carlos Florez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D2DCF-A725-4F1B-B08F-5B2A1B1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AB6"/>
                </a:solidFill>
                <a:latin typeface="Arial"/>
                <a:ea typeface="Arial"/>
                <a:cs typeface="Arial"/>
              </a:rPr>
              <a:t>Ingeniería de Sistemas de Información · VIII ciclo · 2026</a:t>
            </a:r>
          </a:p>
        </p:txBody>
      </p:sp>
    </p:spTree>
    <p:extLst>
      <p:ext uri="{BB962C8B-B14F-4D97-AF65-F5344CB8AC3E}">
        <p14:creationId xmlns:p14="http://schemas.microsoft.com/office/powerpoint/2010/main" val="859006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FCBC3-3082-460B-9888-5EB164A6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42877-76CA-4A23-BCB4-2B21AA1A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EA05C-7C21-4E52-9397-89BC850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E8B5-A1E2-4816-90AA-1449C71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001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operación pierde confiabilidad cuando cada proceso conserva información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0A159-28DA-4A95-ABDD-85AC1BDC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Problema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33A5F-DC1F-4219-8CFF-D09616AA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El stock registrado no siempre representa lo que existe físicamente.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A6B8A-7372-4DE1-82E8-6EB24524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falta de control por lote afecta la atención, la trazabilidad y la detección oportuna de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65713-6BB2-4C44-B785-E6B33130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396ED-064F-4A84-8278-310F5540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D2BE-B21E-4400-831B-3268886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C2503-39C0-4CFA-AA08-C7E6176C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Diferencias entre el sistema y el anaquel.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0C690-5AB7-4714-86A7-FC04BAEF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2DCBA-5D93-46C0-BE8F-03F720DD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7AEFB-9425-4A56-9369-001D571C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Alertas tardías y productos que pierden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1D46A-A6CB-46F9-8709-EED69885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90D48-C7BB-4AB1-85D3-02CABD4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77985-B747-4F10-BDF6-C143BB5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Ventas, caja, compras e inventario sin trazabilidad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945E1-7983-47FB-93D3-C263F328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7BBC2-3A08-4723-B14C-6442AC6D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Reportes manuales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920F4-E7EE-40FC-B707-A7300CB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Más tiempo para verificar información y preparar evidencias.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CD604-84F0-4C56-9770-6332325D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585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Objetivo: controlar ventas, caja e inventario por usuario, producto y lote.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7BDAF-D792-49B0-ACD1-F912EDE6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63573-FF3B-4D02-A012-5698875E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585156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106651-87A5-45A2-B648-349C8A6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74F5F-6889-44F3-AC10-4A7128C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DF0DD-2D87-4443-AF5C-3620468C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Stakeholders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39BCF-5142-499E-938B-E341ECE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58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sistema responde a necesidades operativas internas y a obligaciones externas de información.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FEE37-BAD0-421F-8980-877212E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INTERNOS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53AFC-8930-4DEE-AA5C-06D3B33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D953-7E3C-4EC6-8373-BE844E9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Propietario / administrador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A4A88-9BA5-4D95-9F85-5725442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 de operación, usuarios, cajas y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24D80-0619-4283-A0D6-98B7A96B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531F8-F694-4A56-84A5-AB16F77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B870E-3AE3-474D-BCAA-33CC220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 rápida, identificación del cliente y arqueo confiable.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64726-6769-40AB-8BCA-AD908FE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CF889-AFA4-45EF-B681-ABB3599D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CB44E-0B5D-4E82-9C08-EF2B3F1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Compras, lotes, vencimientos, conteos y alertas.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4DF91-42B5-4F4F-BB10-30913AA6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4787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792C9-2D86-46D2-9ED6-44A0FE7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EXTERNOS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C1768-A93D-4916-9066-1EA43E69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18F65-061F-491D-89B2-45629AB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80A95-C303-4A2C-98D8-7198E894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Atención ágil, datos correctos y comprobantes claros.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2BA7A-03C5-4F62-872D-40DE7B4A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BFDC3-279B-452B-B1F4-9E28D76C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Proveedores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29261-B32D-413B-975E-1A894F5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Órdenes, recepciones y devoluciones trazables.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C2B85-B2B1-420B-B2C8-22BC234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BF520-5A87-485C-B6DD-2CA047C2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SUNAT y DIGEMID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EF6B9-0DD5-46ED-8DBD-5F265D2E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Documentos y reportes preparados según el flujo requerido.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39FB0-15B5-4330-B3CE-6F79134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86504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propietario concentra la decisión. Cajeros y almaceneros sostienen la operación diaria.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0BD47-7BFF-40D8-8676-5A3C26D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EBF6E-B71E-43A7-BC86-EB7BB6B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022901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5D49EC-5599-4F2E-B732-B6F84BF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82DF1-EED9-4A96-A426-132843C7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3B210-2241-438E-88FB-EA1AE70B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Requisitos funcionales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1511-5600-4135-914F-E4236921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funciones cubren el ciclo completo desde el abastecimiento hasta el cierre de caja.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40304-68BF-4B38-8F50-C666FFF1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438F-1840-498C-B626-826302B2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Acceso y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EFC40-76D7-4963-8586-E892E29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Autenticar usuarios y restringir funciones por perfil.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786F-0206-44F5-889D-63AD7C9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F2924-9343-469A-BECD-A869781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34FFE-2ACD-436E-9961-D039179F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maestros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7D930-ED5B-47B2-8CE7-00A8DC38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Gestionar productos, clientes, proveedores y catálogos.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85137-351A-424D-9963-CB9EF92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2AC16-8D21-4F31-9E96-6263C4A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7EC14-E382-48DF-88DC-4D02A64B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Compras y recepción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2DBF6-B07B-4265-B4B7-DF5B5643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comprobantes, lotes, costos y devoluciones.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B9C84-7515-4E82-9BE8-6E19324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E9E9F-B5B6-4BBF-9FDF-AD71BCB1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77152-0715-4D4C-A675-41B9AD42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BB55B-CBAB-4235-9A14-7F3F7C77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Controlar stock, vencimientos, Kardex y conteo físico.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12FF8-2588-4BCB-BEE8-78CDB55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52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37932-6C7E-48B4-9577-E2A273F3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E028D-EC0F-4076-A819-5AD5E2C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Punto de venta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54C24-2BF7-49F6-B672-6F33B1F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ventas, pagos, clientes y comprobantes.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DA649-EE59-4EA2-A054-A36968D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DB063-C47B-4BF5-88CF-767AFBB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1571D-52B3-4982-A741-EBBB9255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CBDADC-06AC-494E-92AC-64C6102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Abrir, registrar movimientos, arquear y cerrar sesiones.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F620B-8869-4FFD-BC4B-482A03F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AF493-2D40-4495-9EDB-2319D45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B3F8D-12B6-4B97-A46E-0539448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Reglas farmacéuticas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9D7ED3-0FCC-4B72-B671-7BBD74C4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Validar receta, condición de venta y salida FEFO.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8DDC9-B165-497A-807B-DAA5267B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AA08B-A0D8-4F6B-9F2D-0E22F65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849C8B-B7D0-46D4-AC08-3CAC0694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cumplimiento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FFFAE-986F-4C08-815E-3DA1BCAF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Informar riesgos y preparar SUNAT y DIGEMID.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1269B2-9D4C-49B5-BE1C-A34DFDB2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72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Los requisitos se conectan: una venta válida modifica stock, Kardex, caja y documento.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CFC956-E165-4E32-814E-81B7C826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83B57-9D2D-425F-A4C7-737CFF1E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822915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2AE29-C73A-4A32-AC8B-9D02B39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B0201-46FC-41F7-9DF4-6528699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DA28E-9D34-45C1-854C-B10A69EC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Requisitos no funcionales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FD3B0-75DD-4E42-B106-0008535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26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calidad del sistema depende de proteger los datos y conservar operaciones consistentes.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6BB00-6920-4260-9AFF-A05095B7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D4C04-DDA6-4A5A-AA8A-93512F15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B47B-2E41-4DA5-80BF-82F97329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en cookie segura y protección CSRF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4D7E4-8AB9-4EF2-91F4-910FEBCC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53025-E114-4DC2-81FF-DCFC076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Contraseñas BCrypt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0F80B-AABC-480D-BAFD-BCE400E6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18B66-C6AA-40CA-93CB-F9D616E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B7FB5-B280-45C0-B111-4E5D1067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Transacciones atómicas e idempotencia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6A8F3-A4FC-4F48-94A7-4F505952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5AC59-8C3E-4935-8D3B-C7FE1763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Bloqueo de stock y validaciones de negocio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AD873-2AFB-4D9C-ABE1-5A817D05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48BF-0F77-48E8-BA54-E33F564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MANTENIBILIDAD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92104-016D-4ABD-998A-30F2A1E4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por capas y DTO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AC839-6DD6-4C04-B6AB-5F1022A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8B26B-0DEC-4E8B-ABCC-E19D197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Flyway, perfiles y variables de entorno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62185-DC37-4A3D-AA92-5B6A449A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C6D0B-F07F-43FC-8350-227CC353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09220-9F53-47B0-B343-FE646D2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Healthchecks y reinicio controlado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5AAAF-A2D2-44D4-BE40-39B933CB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A4307-CECE-4C27-BE67-02DD4E3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Datos persistentes en volumen 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F9709-4A5C-442A-9697-50D7727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instalación debe repetirse en local y EC2 sin incluir secretos en el código fuente.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53EA2-A519-4F94-8F6E-3FD5A242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F2451-7573-474B-8A37-9F86659F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825586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E99DB-C316-4F9A-871D-ADCD34AABED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73CC5-65B3-4D41-BE4B-CB7B389F4CC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6D8FE-C41B-4FD0-90B3-D51485D1E4A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FB2F4-B87E-476F-94F2-040BF0D9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CE2DC-2665-4BB9-8BF3-6FBF9BD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17D67-160D-41E1-840F-79D4D710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DA5D8-C780-4499-A0A8-DFEE5BC7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7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plataforma web que integra la operación diaria y conserva el origen de cada movimiento.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FEC28-032A-4ECE-BF25-B9C46725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D0F2B-B0EF-4919-ADEB-BE8BF443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5F101-6B01-41C6-B62E-5C26969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82035-BEC2-4CE5-85BB-E1EC0DE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8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Compra, recepción y devolución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46844-BA99-4C97-A453-64F58939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744E6-288F-4286-9556-2A415CD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76E18-3805-4DD8-A785-1D5DF0C8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C5FA6-529A-4AC6-B565-F2FBA52B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Lotes, FEFO, Kardex y conteo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C978A-6CB3-487D-B30C-0AD27F8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AAA6B-BE7A-4B19-BB18-C2AB57D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41405-D2E9-467C-A324-A0C3377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VENTA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3B5B0-0D38-4482-A24C-2F7B389F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POS, cliente, receta y pagos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15540-7418-4271-B76D-5EE263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EED23-0BB7-4FE1-91CD-6CA4E84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B9D25-437F-4823-BE7D-E2728303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20FA1-CE02-4FE1-87FE-3DB3BB3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Apertura, movimientos y arqueo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824EB-0BA1-4ECF-8FE9-D9079AA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Control transversal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D539B-0201-47AD-8876-6587A8B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CF989-2283-410D-BDB0-E0A9CADB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Roles y permisos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69E1F-F93E-45F3-A362-FA754A6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42B51-60F5-4D9D-BD83-EBBFC010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6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Auditoría de movimientos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D0922-DA8E-4995-A6B8-AC02BCB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Integraciones controladas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47ED8C-49A6-4B05-A386-25F743AC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B2566-B67A-4BE3-AA72-F666B8C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73472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00B0D-B26B-4099-B303-FF699CE0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C48C4-294B-4E7D-95E7-CCFADA6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1C472-F6A8-4368-8B82-C1C9B42C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Usuarios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821B7-176E-46F2-8746-85C37CB8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rol accede únicamente a las funciones necesarias para su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F80A8-B032-4292-92CD-B44CE046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FD78-3CB7-4381-B80F-220B9F68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Configura usuarios y catálogos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Supervisa cajas e inventario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Consulta reportes y cumplimiento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0D842-6A6F-42F4-80CE-CC87F66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A72F9-2CAE-49D8-8E3E-21B2BD92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F159E-755E-4450-A089-12C9BDC9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Abre y cierra su caja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Registra clientes y ventas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Procesa pagos y comprobantes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703D9-42CD-40F8-A017-BBA767F9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44DE-604D-47E9-91A4-B80FB49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5CAAD-E4A2-4810-A188-F42F267F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Gestiona productos y lotes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Recibe compras y devoluciones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Realiza conteos y revisa alertas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6B1F4-1A87-417F-AEEE-6D8CBEA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Todas las operaciones quedan asociadas al usuario autenticado y a su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00F2E-04E1-4E29-B0FE-A99AD70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01667-2A27-42F6-A246-A0325E8D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8127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110364-7C09-449E-9030-58F55BBFA267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78FD2-7252-43E1-9346-E5E0D2F6FF4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628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E2524-C58A-4155-AA1A-35649500327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B0FBF2-0203-49BC-8971-8868C59FF16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527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FA7C26-355B-4575-8E63-64456E6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9991F-97C8-48D3-85D2-BC0A1FB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7C17B-8558-49D2-9DA1-6912555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operativo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9614D-5048-40BF-885C-3A8FEF0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7DE"/>
                </a:solidFill>
                <a:latin typeface="Arial"/>
                <a:ea typeface="Arial"/>
                <a:cs typeface="Arial"/>
              </a:rPr>
              <a:t>El sistema valida cada etapa antes de actualizar inventario, caja y documentos.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0672C-5B7A-4B35-A948-D0B8CBA3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2C6A-4189-44D3-BCA3-8A086C75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6493A-31BA-4006-97F8-A5208B0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53512-3B71-4500-A0D1-DA67CB3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8E202-B7D3-450A-B5E2-BF43E5CF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5B8D3-155D-4358-8332-B1A87CA4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77E9E-0118-4A71-AC0F-0957891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08E3D-2AE6-4CB0-9885-FD412D5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EE736-B074-4F12-B23E-952100E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027F2-8343-4EE5-B394-472EB34D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Público general, DNI o RUC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14F24-0D50-4B61-B3F6-A964E8D8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8BEC9-8075-428E-BBFE-D9172965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A8E4B-E685-4BFD-8E75-F70991C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76D7C-DE90-43D6-822B-AA4AC67E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5D154-1BD2-4C4B-B62A-76DF038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Stock, lote y condición de venta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71453-80CD-437A-B530-914F272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7FE94-46F3-445B-BBF5-044656A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A77D3-6731-4142-8427-7ED10F01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960CD-1A9B-4047-8276-67161A82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77095-ED87-4CC1-9BB1-643FB8B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Caja, receta, pagos y FEFO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EB3F4-7615-4F67-9BAF-52AEA159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8F11B-2F8A-477A-91FE-2AA09BE0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9AC59-81EC-4753-A4A3-F1C6C73B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2DCEC-2BD6-4FD5-8A2C-C3BCE81D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22B24-40DB-4E04-ADE2-D08E143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Kardex, comprobante y alertas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1209C-20A1-4117-9904-CFAC38DA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una regla falla, la transacción se revierte y no deja registros parciales.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50D08-5B6C-49BE-8BF3-AC369F6A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468CB-FCB6-45A6-A4D4-80679BCD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086363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B1F996-4A11-4918-BDFC-FEB125C6D7B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238625"/>
            <a:ext cx="8572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FD2D7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07ADB-E6DB-46C6-85DD-D4BC4C19FE7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91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0832D-4EBC-46BF-93D4-5A02350843F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969A4-A94F-48C0-9B40-83B91FDFAB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BCFBD-C4E3-4ED4-85CA-8BE283F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1A584-E182-450D-BFFD-C90B026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1615C-32AD-4BD9-B1C9-39FD67E2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Arquitectura y tecnologías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8C5EC-C345-4F5C-A836-A8B52DC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Arquitectura cliente servidor desplegada con contenedores y configuración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C3AFB-20CB-4022-8549-ACE45DD0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BF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43915-531A-445D-951E-28321E5D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DF2BA-BA4E-45C6-8BEC-C5E1E32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F22BF-DE3F-4F5D-96F6-4CB34B2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82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62237-4D89-414B-9682-365BEAA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41392-9760-4A0D-891C-58E729A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Angular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B709F-68B5-4494-8CF3-C3477BB6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Nginx publica la interfaz y enruta las solicitudes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53895-DCAA-4F5D-9C0D-D106B8A2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4765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F4FB"/>
          </a:solidFill>
          <a:ln xmlns:a="http://schemas.openxmlformats.org/drawingml/2006/main" w="9525">
            <a:solidFill>
              <a:srgbClr val="8CC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CCAAC-A9BE-48EA-A755-3A26726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16828-3397-4282-BA7E-AC5F5422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Spring Boot 3.4.5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E8DBE-1F7E-453F-A5A4-72A2C32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0081F-2245-4AD3-8AB3-E0E60B1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310AA-46B8-4215-9D45-6CFDFA3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REST · JPA/Hibernate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JWT y CSRF · Flyway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585E06-C337-43F0-AF74-E55121ED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E8C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2FAA0-FA56-43BE-823F-0A3EDC2B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07B59-A7FF-413A-A6FF-23EBF93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1901B-B17E-4BF2-827D-99BF3FC0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57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Volumen persistente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6BE9C-BD17-4959-8FDA-BB4F708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105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CB2E8-9EEA-4CF7-86E1-C547338E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7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Integraciones externas controladas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5C96E-C42B-430B-9808-C0F5C047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4"/>
          </a:bodyPr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JSON.pe · SUNAT BETA · DIGEMID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0AEF6-6580-4E90-ACC2-9F2455F5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15025"/>
            <a:ext cx="861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8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Docker Compose coordina los servicios y sus healthchecks. El mismo conjunto se despliega en AWS EC2.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D7EC6-521D-4770-9136-9DC20E1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61413-031A-40E1-AFA3-CA634577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674560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6A784-F437-4ED8-A020-389EEBD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5690-3EA6-4564-AAB2-7DB3B52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F9492-966C-4957-9C3C-1B0B86D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Normalización de la 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D02D-8AB4-46EE-9D94-7B76C92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modelo separa cada concepto para evitar duplicidad y mantener relaciones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5854C-8EAF-4CBF-8DE9-75B11BD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1FN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CCE6F-C89B-470E-8DDF-FEA1B4F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atómicos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5CF08-923A-4E39-996C-8270A5E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campo contiene un solo valor. Los productos de una venta ocupan filas de detalle independientes.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2566F-4BC9-413D-B9FF-EB5990A1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625E5-7A3D-4DFA-AF5B-0069A50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2FN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7FE0A-8708-4A0C-ABEE-FA41A73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24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Dependencias completas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EF38D-63E5-4EC0-90AD-8BFEA6C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cabecera conserva fecha, cliente y estado. Cantidad y precio permanecen en el detalle de venta.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8E41A-B0BD-446A-AA56-C4CB49C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74EE-C88E-4000-B114-39A488A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3FN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75E94-A199-43B5-BB4F-5B06D302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Sin dependencias transitivas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A3724-A42E-44BF-8B7C-E2F3357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958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Clientes, productos, laboratorios y categorías tienen tablas propias y se relacionan mediante claves foráneas.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AA1CA-35DD-4ED4-99DF-0CBC1F5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32502-62C0-4DE3-9372-59B12F00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Aplicación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37F97-7098-4028-815E-631465C7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71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4669B-C98D-4750-A399-C628B1B6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cabecera y 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EF9B5-09EC-4764-A5EF-54C4DB44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DETALLE_VENTAS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D6E30-ECD8-4711-99FB-B5682763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producto, lote, cantidad y precio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47027-3037-4C75-AC92-BF2F82D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2E4D2-2908-4076-B86B-48A5959B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 y saldo disponible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4FBF4-E51F-4470-8D9C-0DBB3E1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PAGOS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136D8F-CFBA-480E-BC80-15BAFC5B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770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método, monto y caja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AB907-57F3-4090-BB5E-75B307E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MOVIMIENTOS_INVENTARIO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74FDD-160E-4082-BCFA-C7494E0D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96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1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trazabilidad de entradas y salidas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33D57-BD02-4E4B-890E-DB2ACCA4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9334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78568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menos repetición, actualizaciones coherentes y auditoría por entidad.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63BFCF-DA1C-4AB4-9107-FB4ECA1B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7B5B3-807E-4E86-BF0C-390502F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953955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4154C-C9C4-4219-8F8A-6E452C4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0B6C1-67EB-41EC-BE6B-C3B4DC9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494D-CBD8-43FA-9FA5-072DE587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Ejemplo de normalización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8C09D-62A6-4378-8FD1-748BDAA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5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venta con varios productos ya no repite los datos del cliente ni mezcla stock con comprobantes.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A9DA6-EAB4-46DB-BE29-599637B2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ANTES: VENTA_DESNORMALIZADA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C3CDD-ACA2-42D5-AABE-EDBC55D273E2}"/>
              </a:ext>
            </a:extLst>
          </p:cNvPr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49530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1381125"/>
                <a:gridCol w="2047875"/>
                <a:gridCol w="742950"/>
              </a:tblGrid>
              <a:tr h="6048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Venta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 / lote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Cant.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Alcohol 70%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L-ALC-001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1002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Público general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44C39-62EE-4837-A6C9-4C322D6F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Problema: cliente, producto y lote se repiten en cada línea.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AC98F-D6A2-4C83-9E6E-81A3485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DESPUÉS: TABLAS RELACIONADAS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9786E-2516-4204-80BD-BDCEA83DC3B2}"/>
              </a:ext>
            </a:extLst>
          </p:cNvPr>
          <p:cNvGraphicFramePr/>
          <p:nvPr/>
        </p:nvGraphicFramePr>
        <p:xfrm>
          <a:off xmlns:a="http://schemas.openxmlformats.org/drawingml/2006/main" x="6191250" y="2352675"/>
          <a:ext xmlns:a="http://schemas.openxmlformats.org/drawingml/2006/main" cx="539115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352550"/>
                <a:gridCol w="2362200"/>
              </a:tblGrid>
              <a:tr h="520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Clave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id_cliente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Identidad y documento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cliente_id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Cabecera, fecha y estado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DETALLE_VENTAS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venta_id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Lote, cantidad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PRODUCTOS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id_producto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Descripción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producto_id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Vencimiento y stock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154D0-66F7-49C1-9948-602566F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dato se guarda una vez y las claves foráneas mantienen la relación.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1D6A9-3C39-4C29-9791-12730D54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B8BA8-9F22-4BE9-AB3C-3986CC8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747630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86F72-D401-4490-8F60-317BE3E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EE89-7630-491E-9807-3AA81A2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0A048-4B63-43D6-9D37-62CE4B5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funcional: alertas de inventario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2FC2D-BCBF-489E-A396-DC352AB5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interfaz convierte datos de stock y vencimiento en tareas concretas para el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1F8B-FBE2-47DA-8A1F-81054C41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F6994-93AE-4E2A-AD83-97FCDE6E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 riesgos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0FE82-3C2A-4BE8-8A2A-006BAD5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Distingue agotados, stock bajo, lotes vencidos y próximos a vencer.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0130E-4654-43E4-AAA1-8C036373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9FA7E-3628-4D26-AC25-58A68E8D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 el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A85A0-BE55-4A15-894A-94C5BB3E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Muestra producto, lote, fecha y cantidad para facilitar la revisión.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6EDEC-B5A4-49B8-BEF8-2A149D9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04443-D0CD-4151-B2AA-5D60EC69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 la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627C8-FF8D-4CD8-9AB4-DBFD817B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Permite revisar el producto o iniciar la gestión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BAE52-BB62-4224-923B-D028E506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7067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66BEC-0E4C-43ED-B801-0E2F552F7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4c1dfaeb64ffe"/>
          <a:stretch xmlns:a="http://schemas.openxmlformats.org/drawingml/2006/main"/>
        </p:blipFill>
        <p:spPr>
          <a:xfrm xmlns:a="http://schemas.openxmlformats.org/drawingml/2006/main">
            <a:off x="5037402" y="2162175"/>
            <a:ext cx="5908146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B20EF-52D7-40D0-A645-176C77B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2AEB9"/>
                </a:solidFill>
                <a:latin typeface="Arial"/>
                <a:ea typeface="Arial"/>
                <a:cs typeface="Arial"/>
              </a:rPr>
              <a:t>Captura real del módulo de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44858-4C6C-4874-89ED-D2EDEA4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A1894-1794-4E00-92E0-37835CF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7326876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7EA60-608F-4712-86FF-5C15CC5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6E8C8-52C6-4600-AF3B-73C3EF1A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1CB92-931C-48DF-9F5D-C7AE24EE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SUNAT y DIGEMID en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D60B0-09E0-4358-92C8-CEF8D92E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Los módulos reproducen el flujo documental para pruebas y demostración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A363D-8AB3-42EB-A405-08D4578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SUNAT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710A6-F1D0-4FBC-8A85-3F9B3E6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 de XML UBL 2.1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Resumen diario de boletas UBL 2.0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Firma, estados, intentos y respuesta CDR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15060-EC96-470C-8912-213D5DF2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CD2D0-C634-4806-9FDD-E70A5FCC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DIGEMID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45E04-76D0-4C27-911F-C08C53B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 periódico de precios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Exportación de datos para revisión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del resultado y constancia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B1DFB-46E9-4738-A18B-47E2681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84536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validez externa requiere credenciales oficiales, certificado digital y aceptación de la entidad correspondiente.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C7509-DFBF-46E1-9343-2CB02AD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54D43-81B4-4298-86B8-BA0F1F1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486967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1DAE9-DEFD-46A5-B360-09F6AEC4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28622-34EA-42C4-A1E5-0D0B961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A4488-1D54-496E-A670-8E1D3896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Calidad y 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0D42F-CCCD-4703-B43C-3420A9E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pruebas y los controles de infraestructura respaldan la demostración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45DE3-3C6E-4258-8202-091A693B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17F7-0D06-48A7-86FB-33CB1F15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pruebas backend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591B8-3198-4DE0-A2C6-54FEC4E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Además: compilación Angular y healthchecks de los tres contenedores.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952C4-8767-44BB-A95B-AC6A663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0CF4-81EC-4799-A57A-41CDB61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011A-A02E-4F51-8053-49BA8E7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B4291-0C17-4210-851E-00E41BCE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Servicios y reglas de negocio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APIs, autenticación y permisos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2309B-458E-4729-9218-2B068B61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C7FEA-3276-43C3-8C17-800F7EC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A3D9B-EC4D-4DB2-A15F-6285545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Compilación Angular correcta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Validaciones y mensajes controlados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FA83C-E0C1-4A51-9FCD-792D672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55FD9-8791-4F1B-8A73-069D4232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INFRAESTRUCTURA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C6149-E16F-4B62-95BF-E395FBF6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Docker Compose y healthchecks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Demostración preparada para AWS EC2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7F2D6-CBAC-4C2F-B36A-233026EF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81575"/>
            <a:ext cx="76962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usa migraciones Flyway y el backend valida el esquema antes de iniciar.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949B5-F933-464D-898A-45353DD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C4881-5C89-4224-87AF-3C736055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049974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3461A-97F2-4327-A3ED-48322E1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5F37-C1E2-4A40-B062-372C706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28841-293B-4570-992A-100F679E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Recomendaciones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1ABE8-D923-4719-AD89-3F04ECFA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27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siguientes acciones mejoran la demostración actual y preparan una evolución segura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34590-F9D5-45B8-81E3-F79272A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ANTES DEL DESPLIEGUE EN EC2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9FCA-D8B7-4BC3-9792-D908404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66796-7B20-4E5B-80A8-7F0836A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Separar secretos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9744D-71A2-44C1-9D66-9730243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Usar un archivo de entorno fuera del repositorio y renovar tokens expuestos.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8D0E7-AA0F-4E83-B0B3-B17AC07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29997-A2AE-47B8-9AF8-04E333F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Preparar la demostración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7F2F1-3FDD-4FEA-B01F-D35C0CDC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Cargar datos coherentes y ensayar venta, Kardex, alerta y arqueo.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F3D2C-75B3-4E2C-AE45-E5BCED0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F0668-6858-425D-A2AA-6653C45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Asegurar el acceso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94650-12B4-4CBD-8E6B-9A65C4F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Cambiar contraseñas, habilitar HTTPS y limitar puertos en EC2.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964EA-C85C-49FF-9969-E08C386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A5D79-2379-4F40-A739-29CF7DA3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SIGUIENTES MEJORAS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A31FE-A612-41FF-9ABE-34F02CFF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15E7E-27B9-47FE-A052-CD0004DD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Automatizar respaldo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B6C8D-05B5-4FA0-B4C7-B7D4225A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Programar copias de PostgreSQL y probar periódicamente su restauración.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D1AB5-D558-46D0-AE8F-29A0ABB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14809-887F-4147-BEEC-E31D17C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Ampliar pruebas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C74A3-DA78-431D-9C90-DB5111D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Agregar pruebas E2E para venta, devolución, recepción y cierre de caja.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A5847-5973-4B06-B9E1-16358D53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05024-B1A1-4FE9-A6D2-739FC677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Escalar por etapas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15ABE-6095-41D4-8CC1-01426D31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9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Evaluar sucursales, lectura de códigos y paneles comparativos.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858CE-8838-4349-9BDA-4211B961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Prioridad inmediata: una demostración reproducible, segura y con datos fáciles de explicar.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2651C-AC0D-4438-8508-D91A789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4EEFC-1E5E-4CF7-97A7-DA8A47EC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594173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4B8A7-3B8F-487D-A1B4-E77BAC69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2EC3C-B2F6-4B86-8E56-97944214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89CB6-DE3E-4122-9311-9E317031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EDC99-3863-4591-917D-AC34943D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>
            <a:def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8DE"/>
                </a:solidFill>
                <a:latin typeface="Arial"/>
                <a:ea typeface="Arial"/>
                <a:cs typeface="Arial"/>
              </a:rPr>
              <a:t>El sistema integra la operación farmacéutica y deja evidencia de cada movimiento relevante.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D7D96-DD3D-48CA-A2DE-646A94E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E579F-F83F-4B55-AAE1-3224EC9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551D2-6E4A-4C99-A843-31CFD91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Cada entrada, venta, devolución o ajuste conserva usuario, producto, lote y saldos.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EF882-FCA2-4DCE-B949-98B3BB0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BC309-2B79-4F83-B7B4-8178D538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1BE5D-AA83-437F-96C2-36E9BF9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10F38-239B-49EB-932E-DA3EEC7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FEFO, Kardex, conteo físico y alertas permiten detectar riesgos antes de que afecten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E64A5-6732-46F3-BE8C-196B46E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B2B0D-B847-4766-9691-E28F747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6108F-056D-4793-AAD2-D037DD5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integrada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0A799-4A1D-4F9D-8C20-1327993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Ventas, caja, compras, recetas y reportes comparten reglas y una base de datos común.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D89A2-8547-4E7E-984D-5D72BB4F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B553E-4344-4B26-B774-3AC5079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71700"/>
            <a:ext cx="57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D5603-1F0E-40B2-88FD-3FB0036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FCC66-8C38-48B0-A1BF-E517E75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caja, registrar una venta, revisar Kardex y cerrar con arqueo.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FEB95-4E8A-4EBB-90AB-15A0B526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6DF35-BA43-4481-9B26-5248AD4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881017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2026-10-20T00:45:16.3400000Z</dcterms:created>
  <dcterms:modified xsi:type="dcterms:W3CDTF">2026-10-20T00:45:16.3410000Z</dcterms:modified>
</coreProperties>
</file>