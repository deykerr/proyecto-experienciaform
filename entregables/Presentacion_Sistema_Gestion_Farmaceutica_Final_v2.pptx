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06130c7d9146ba" /><Relationship Type="http://schemas.openxmlformats.org/officeDocument/2006/relationships/extended-properties" Target="/docProps/app.xml" Id="R93fae1e6281b4077" /><Relationship Type="http://schemas.openxmlformats.org/officeDocument/2006/relationships/officeDocument" Target="/ppt/presentation.xml" Id="Rf8738c5ab81142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a84bf6c38743c3"/>
  </p:sldMasterIdLst>
  <p:notesMasterIdLst>
    <p:notesMasterId xmlns:r="http://schemas.openxmlformats.org/officeDocument/2006/relationships" r:id="R11402fd87fbc4f03"/>
  </p:notesMasterIdLst>
  <p:sldIdLst>
    <p:sldId xmlns:r="http://schemas.openxmlformats.org/officeDocument/2006/relationships" id="256" r:id="Rcb92a6f328364ffc"/>
    <p:sldId xmlns:r="http://schemas.openxmlformats.org/officeDocument/2006/relationships" id="257" r:id="R0badee8423f74952"/>
    <p:sldId xmlns:r="http://schemas.openxmlformats.org/officeDocument/2006/relationships" id="258" r:id="Rcfbb6ae18acc4c4d"/>
    <p:sldId xmlns:r="http://schemas.openxmlformats.org/officeDocument/2006/relationships" id="259" r:id="Rf5fb87cd700844ec"/>
    <p:sldId xmlns:r="http://schemas.openxmlformats.org/officeDocument/2006/relationships" id="260" r:id="Ra7827fcd3d314195"/>
    <p:sldId xmlns:r="http://schemas.openxmlformats.org/officeDocument/2006/relationships" id="261" r:id="R5dc75fcfec6c4fd6"/>
    <p:sldId xmlns:r="http://schemas.openxmlformats.org/officeDocument/2006/relationships" id="262" r:id="Redb42d5eb7444bca"/>
    <p:sldId xmlns:r="http://schemas.openxmlformats.org/officeDocument/2006/relationships" id="263" r:id="R0472a7c65d1e4fdb"/>
    <p:sldId xmlns:r="http://schemas.openxmlformats.org/officeDocument/2006/relationships" id="264" r:id="R1b206a818ae64a85"/>
    <p:sldId xmlns:r="http://schemas.openxmlformats.org/officeDocument/2006/relationships" id="265" r:id="Rda89f0eb1b4344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c3455ff8054eea" /><Relationship Type="http://schemas.openxmlformats.org/officeDocument/2006/relationships/slideMaster" Target="/ppt/slideMasters/slideMaster1.xml" Id="Rfda84bf6c38743c3" /><Relationship Type="http://schemas.openxmlformats.org/officeDocument/2006/relationships/notesMaster" Target="/ppt/notesMasters/notesMaster1.xml" Id="R11402fd87fbc4f03" /><Relationship Type="http://schemas.openxmlformats.org/officeDocument/2006/relationships/presProps" Target="/ppt/presProps.xml" Id="Ref3342d16ac44cd0" /><Relationship Type="http://schemas.openxmlformats.org/officeDocument/2006/relationships/tableStyles" Target="/ppt/tableStyles.xml" Id="R6a40c55b00a9457c" /><Relationship Type="http://schemas.openxmlformats.org/officeDocument/2006/relationships/slide" Target="/ppt/slides/slide1.xml" Id="Rcb92a6f328364ffc" /><Relationship Type="http://schemas.openxmlformats.org/officeDocument/2006/relationships/slide" Target="/ppt/slides/slide2.xml" Id="R0badee8423f74952" /><Relationship Type="http://schemas.openxmlformats.org/officeDocument/2006/relationships/slide" Target="/ppt/slides/slide3.xml" Id="Rcfbb6ae18acc4c4d" /><Relationship Type="http://schemas.openxmlformats.org/officeDocument/2006/relationships/slide" Target="/ppt/slides/slide4.xml" Id="Rf5fb87cd700844ec" /><Relationship Type="http://schemas.openxmlformats.org/officeDocument/2006/relationships/slide" Target="/ppt/slides/slide5.xml" Id="Ra7827fcd3d314195" /><Relationship Type="http://schemas.openxmlformats.org/officeDocument/2006/relationships/slide" Target="/ppt/slides/slide6.xml" Id="R5dc75fcfec6c4fd6" /><Relationship Type="http://schemas.openxmlformats.org/officeDocument/2006/relationships/slide" Target="/ppt/slides/slide7.xml" Id="Redb42d5eb7444bca" /><Relationship Type="http://schemas.openxmlformats.org/officeDocument/2006/relationships/slide" Target="/ppt/slides/slide8.xml" Id="R0472a7c65d1e4fdb" /><Relationship Type="http://schemas.openxmlformats.org/officeDocument/2006/relationships/slide" Target="/ppt/slides/slide9.xml" Id="R1b206a818ae64a85" /><Relationship Type="http://schemas.openxmlformats.org/officeDocument/2006/relationships/slide" Target="/ppt/slides/slide10.xml" Id="Rda89f0eb1b4344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030f02961d41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854f83c2a4de7" /><Relationship Type="http://schemas.openxmlformats.org/officeDocument/2006/relationships/notesMaster" Target="/ppt/notesMasters/notesMaster1.xml" Id="Rb57a3e8643374b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6da6d5e4e04eee" /><Relationship Type="http://schemas.openxmlformats.org/officeDocument/2006/relationships/notesMaster" Target="/ppt/notesMasters/notesMaster1.xml" Id="R70919b43abdd4e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d61d73bf5d4cc8" /><Relationship Type="http://schemas.openxmlformats.org/officeDocument/2006/relationships/notesMaster" Target="/ppt/notesMasters/notesMaster1.xml" Id="R3674da174f5641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82dd8093a143a6" /><Relationship Type="http://schemas.openxmlformats.org/officeDocument/2006/relationships/notesMaster" Target="/ppt/notesMasters/notesMaster1.xml" Id="R31ff3e57b84544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b620ff4c3b45f1" /><Relationship Type="http://schemas.openxmlformats.org/officeDocument/2006/relationships/notesMaster" Target="/ppt/notesMasters/notesMaster1.xml" Id="Rde7bcf68eb364f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ab3607fcc48ee" /><Relationship Type="http://schemas.openxmlformats.org/officeDocument/2006/relationships/notesMaster" Target="/ppt/notesMasters/notesMaster1.xml" Id="R7af76f22c8504d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146f06a005441a" /><Relationship Type="http://schemas.openxmlformats.org/officeDocument/2006/relationships/notesMaster" Target="/ppt/notesMasters/notesMaster1.xml" Id="R6ab10f11345f4c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4b1ffaf9bb41a4" /><Relationship Type="http://schemas.openxmlformats.org/officeDocument/2006/relationships/notesMaster" Target="/ppt/notesMasters/notesMaster1.xml" Id="Rafc491d0f56645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e044b80e33457f" /><Relationship Type="http://schemas.openxmlformats.org/officeDocument/2006/relationships/notesMaster" Target="/ppt/notesMasters/notesMaster1.xml" Id="R6c2497b5e6a74b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392f46924c4d49" /><Relationship Type="http://schemas.openxmlformats.org/officeDocument/2006/relationships/notesMaster" Target="/ppt/notesMasters/notesMaster1.xml" Id="Rd22485ca1a6a49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5c8a06b6140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41ebc9a1b46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4405defc44d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ef019fbdf4b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bccfe6fe647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4201a0d1d49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29A58C-F554-41A1-948D-AEB35F4D1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FC51AA-EAED-4A16-A63F-E7D0653558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9E97EB-6E1B-4FC8-A2B3-A37806117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C53088-72EB-4D29-8E35-3AABE3563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C72C3D-FC15-4A7C-A758-9286D7245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6B33C0-B210-49E8-B8D7-D950AAB9B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3D620C-5F06-42DA-AA39-49663C16C7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25BDEC-D57E-4575-8D0B-CE94015378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B334F4-9954-4197-A43B-65B6150C9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7D6210-9554-4E9F-8C39-B695EF5709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0f4ce1ee644e5f" /><Relationship Type="http://schemas.openxmlformats.org/officeDocument/2006/relationships/slideLayout" Target="/ppt/slideLayouts/slideLayout1.xml" Id="Rb3a7c6bfb4e9465b" /><Relationship Type="http://schemas.openxmlformats.org/officeDocument/2006/relationships/slideLayout" Target="/ppt/slideLayouts/slideLayout2.xml" Id="Rb2e3be975bf84ad8" /><Relationship Type="http://schemas.openxmlformats.org/officeDocument/2006/relationships/slideLayout" Target="/ppt/slideLayouts/slideLayout3.xml" Id="Rf326dfddb9144ae4" /><Relationship Type="http://schemas.openxmlformats.org/officeDocument/2006/relationships/slideLayout" Target="/ppt/slideLayouts/slideLayout4.xml" Id="R4cdc75f2b5da450e" /><Relationship Type="http://schemas.openxmlformats.org/officeDocument/2006/relationships/slideLayout" Target="/ppt/slideLayouts/slideLayout5.xml" Id="Rb24cc104cfa24440" /><Relationship Type="http://schemas.openxmlformats.org/officeDocument/2006/relationships/slideLayout" Target="/ppt/slideLayouts/slideLayout6.xml" Id="Rc215ce1f9e3d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7c6bfb4e9465b"/>
    <p:sldLayoutId xmlns:r="http://schemas.openxmlformats.org/officeDocument/2006/relationships" id="2147483650" r:id="Rb2e3be975bf84ad8"/>
    <p:sldLayoutId xmlns:r="http://schemas.openxmlformats.org/officeDocument/2006/relationships" id="2147483651" r:id="Rf326dfddb9144ae4"/>
    <p:sldLayoutId xmlns:r="http://schemas.openxmlformats.org/officeDocument/2006/relationships" id="2147483652" r:id="R4cdc75f2b5da450e"/>
    <p:sldLayoutId xmlns:r="http://schemas.openxmlformats.org/officeDocument/2006/relationships" id="2147483653" r:id="Rb24cc104cfa24440"/>
    <p:sldLayoutId xmlns:r="http://schemas.openxmlformats.org/officeDocument/2006/relationships" id="2147483654" r:id="Rc215ce1f9e3d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ec4d42c6747e1" /><Relationship Type="http://schemas.openxmlformats.org/officeDocument/2006/relationships/image" Target="/ppt/media/image.png" Id="R03f457ae4aaf4c22" /><Relationship Type="http://schemas.openxmlformats.org/officeDocument/2006/relationships/image" Target="/ppt/media/image.jpeg" Id="R2b8ad7e91bc149ce" /><Relationship Type="http://schemas.openxmlformats.org/officeDocument/2006/relationships/notesSlide" Target="/ppt/notesSlides/notesSlide1.xml" Id="Ra0951882c79543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ae9388d6c4b56" /><Relationship Type="http://schemas.openxmlformats.org/officeDocument/2006/relationships/notesSlide" Target="/ppt/notesSlides/notesSlide2.xml" Id="R3755a2ea08f54f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254897b784c35" /><Relationship Type="http://schemas.openxmlformats.org/officeDocument/2006/relationships/notesSlide" Target="/ppt/notesSlides/notesSlide3.xml" Id="R974be692a78b43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df281984648eb" /><Relationship Type="http://schemas.openxmlformats.org/officeDocument/2006/relationships/notesSlide" Target="/ppt/notesSlides/notesSlide4.xml" Id="Ra5772aee31b54b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9774eba114d42" /><Relationship Type="http://schemas.openxmlformats.org/officeDocument/2006/relationships/notesSlide" Target="/ppt/notesSlides/notesSlide5.xml" Id="R367f35f155754f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05712af204cf9" /><Relationship Type="http://schemas.openxmlformats.org/officeDocument/2006/relationships/notesSlide" Target="/ppt/notesSlides/notesSlide6.xml" Id="R32bea40a475d45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a091c622d4c69" /><Relationship Type="http://schemas.openxmlformats.org/officeDocument/2006/relationships/image" Target="/ppt/media/image2.png" Id="R01db6dc6a9344fce" /><Relationship Type="http://schemas.openxmlformats.org/officeDocument/2006/relationships/notesSlide" Target="/ppt/notesSlides/notesSlide7.xml" Id="R4e6161de727d4c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e5d6b7bdd45d7" /><Relationship Type="http://schemas.openxmlformats.org/officeDocument/2006/relationships/notesSlide" Target="/ppt/notesSlides/notesSlide8.xml" Id="Rf5bacdd571ba4f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5c074fdbb4d92" /><Relationship Type="http://schemas.openxmlformats.org/officeDocument/2006/relationships/notesSlide" Target="/ppt/notesSlides/notesSlide9.xml" Id="Rd542509f6a1f46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3e6b5937442c7" /><Relationship Type="http://schemas.openxmlformats.org/officeDocument/2006/relationships/notesSlide" Target="/ppt/notesSlides/notesSlide10.xml" Id="R9842868fb380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967FE-F200-4558-B229-975A0E392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457ae4aaf4c22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79FF6-3327-47CB-A6AE-4207BAB8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553D1-AB35-4A91-92F1-3CAF8DE0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5C25E-4207-4D76-8612-E919A8F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76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BC649-EDF3-498F-B362-1086E78AB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ad7e91bc149ce"/>
          <a:stretch xmlns:a="http://schemas.openxmlformats.org/drawingml/2006/main"/>
        </p:blipFill>
        <p:spPr>
          <a:xfrm xmlns:a="http://schemas.openxmlformats.org/drawingml/2006/main">
            <a:off x="876300" y="440924"/>
            <a:ext cx="1143000" cy="5659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23397-5C95-4F15-9BD9-80C90214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989B2-85F6-44FC-8696-09A7A9E8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web de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farmacéutica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4006F-F46F-46E6-9B63-7B25D9CD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5EA"/>
                </a:solidFill>
                <a:latin typeface="Arial"/>
                <a:ea typeface="Arial"/>
                <a:cs typeface="Arial"/>
              </a:rPr>
              <a:t>Proyecto aplicado a la Botica Virgen del Carmen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DF12D-4A64-460A-8698-2B3EC0C5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Angular 18 · Spring Boot 3.4.5 · PostgreSQL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E13A4-41E6-41AF-B6C7-0318B7D3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Jhosetd Deyker Gamboa Quispe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Juan Carlos Florez Pareja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ED401-B32D-4E55-B1E3-D5325D98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FAAB6"/>
                </a:solidFill>
                <a:latin typeface="Arial"/>
                <a:ea typeface="Arial"/>
                <a:cs typeface="Arial"/>
              </a:rPr>
              <a:t>Ingeniería de Sistemas de Información · VIII ciclo · 2026</a:t>
            </a:r>
          </a:p>
        </p:txBody>
      </p:sp>
    </p:spTree>
    <p:extLst>
      <p:ext uri="{BB962C8B-B14F-4D97-AF65-F5344CB8AC3E}">
        <p14:creationId xmlns:p14="http://schemas.microsoft.com/office/powerpoint/2010/main" val="1235582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2EAB2-6760-42FD-8E42-26AE5CD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C693E-BAA8-4CBA-8D38-8721E404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A301C-B0D3-48FA-8743-D6105C60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D3652-18D2-41F6-9D03-6856812E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001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operación pierde confiabilidad cuando cada proceso conserva información separada.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696A7-0D48-462D-A9A1-3B5C113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Problema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55266-0590-428A-A904-6BE5E3EA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El stock registrado no siempre representa lo que existe físicamente.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E221D-C6D8-4E7E-999B-83448F2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falta de control por lote afecta la atención, la trazabilidad y la detección oportuna de vencimientos.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9B7F4-C9B6-4BCF-8431-C6E3F160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AFD15-D2AD-43C2-9586-08755C7D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0BA67-88AF-406C-B62B-41CB03F8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Stock incierto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7300B-FF51-4771-B21C-E745A6BA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Diferencias entre el sistema y el anaquel.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DBCAA-6A1B-4B10-9C9A-2CA291FA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4CCCB-2742-4709-8AD0-76A7876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6D3B6-23F0-4E2C-83D8-B964C10C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Alertas tardías y productos que pierden valor.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A71AF-38A5-49BB-995C-0C4762B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AB198-4FFA-4012-ADBB-A00A3B98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Procesos aislados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96DD8-0E0C-45A3-BA6E-F131F90B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Ventas, caja, compras e inventario sin trazabilidad común.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21AD4-828F-43DD-9D87-843E07F0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6590E-AF93-48D5-96FC-972C08BD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Reportes manuales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4EA20-A0CD-4E03-9A26-EED6C485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Más tiempo para verificar información y preparar evidencias.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2E697-F966-4723-A3F9-28FD7B3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982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585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Objetivo: controlar ventas, caja e inventario por usuario, producto y lote.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07412-B4C2-45E4-BBEF-965F0D5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19954-08DA-43C3-AB97-DF9F8D09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8227470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34B08-D202-4100-9D2D-7E8F784B75B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91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B2D49-6CBA-4C5D-94D4-C553C5B303D7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340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08FB7-9930-4554-92A7-70D360D9F4D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76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37352-25E3-4052-A3C7-3673AD6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9204E-6CD8-4675-B72F-236A755F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66966-5B11-4AAE-AEFC-4F72575A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Solución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C875A-0F44-47D6-A0DD-3F0C4031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17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plataforma web que integra la operación diaria y conserva el origen de cada movimiento.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2CE52-D005-4077-8AA5-4EF6224D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A22CC-682B-4F06-8F60-99D7048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7FC90-0763-409C-8D1F-24924EB9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ABASTECIMIENTO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78877-3E0F-44C9-BFBF-97D6D635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88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Compra, recepción y devolución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9112E-4C88-41F1-BD71-D1AFE8F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A2AA6-D7B1-484A-B9BF-854E5D5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52D9C-2624-41FC-B29B-02EE07E3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90E7C-EC31-4CB6-8868-4BEF2090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Lotes, FEFO, Kardex y conteo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6DAAE-7915-4872-AB89-E53024D4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C2FF2-79AE-4CB4-8F6D-A4A4D6EF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A9426-2CC5-4040-9BB6-DDF136B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VENTA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E22B5-16E4-46A3-AFD3-9FCDF1D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POS, cliente, receta y pagos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4FC2F-8F7F-40EC-89E8-3BD20E81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B3C07-9217-490F-ABF5-2689C9F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90322-DCC4-413C-A549-58D48789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EE084-942D-4E2E-BAD1-18C33A19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Apertura, movimientos y arqueo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96B4C-775B-4A5E-8ABA-264C8E2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Control transversal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3257F4-7A01-4CC4-9D47-4F41CB83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EA746-BA0C-4C55-B725-92B173F4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Roles y permisos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660A93-7B97-4508-B5A3-317ED78F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reportes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A0EEB-AC12-40EF-915B-CC1E1DA0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6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Auditoría de movimientos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87CAA-7DBE-4D81-AF0E-172794E7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6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Integraciones controladas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AA7C85-09E3-4D23-B440-3C30D53D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5E8E0-180C-4A90-87BC-C8904480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2137181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5549B-CD6A-4CE7-AC4B-F15975D5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5A55E-EFD4-48D8-A522-80585309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BBB11-9182-43AE-9F88-A1B839CD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Usuarios y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2A927-EC32-4366-84F1-35AA70E8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rol accede únicamente a las funciones necesarias para su trabajo.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5EA73-7117-4C2B-ACB4-BA4B6C7E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9FE79-CA24-4D4F-A530-8259CA19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Configura usuarios y catálogos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Supervisa cajas e inventario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Consulta reportes y cumplimiento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F09D1-93BF-45C3-8BB5-792546F6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37BCA-C076-4488-B3A5-072819D8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E8A8D-C56A-4862-890A-D88DC622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Abre y cierra su caja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Registra clientes y ventas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Procesa pagos y comprobantes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DF09D-750C-4492-9579-1B0A774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2CF40-7E45-45FE-BBBE-3157659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88B78-7EE9-4941-A69C-6867061F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Gestiona productos y lotes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Recibe compras y devoluciones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Realiza conteos y revisa alertas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90819-574B-426D-B24F-AB35444E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Todas las operaciones quedan asociadas al usuario autenticado y a su 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FC922-B731-4764-9DC8-53942B08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01906-0591-455A-AB01-1D5E2949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10713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1CCF88-59F6-4913-B8B2-332F2A0E3672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678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C05637-9FAB-448B-AA3E-0FC2AF55584E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628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7B24FF-F20E-45AC-8C92-09AFF7B89DF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EFD06-2E91-4D91-ACCD-45D679F4A3C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527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DF393D-9EB2-421C-87BE-F8DA0B9A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99F16-F13A-4CDF-808A-A8BE3201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7F099-76A4-46E7-AE29-C103E629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Flujo operativo integrado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8C75F-DC48-41B3-81AB-41383A37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D7DE"/>
                </a:solidFill>
                <a:latin typeface="Arial"/>
                <a:ea typeface="Arial"/>
                <a:cs typeface="Arial"/>
              </a:rPr>
              <a:t>El sistema valida cada etapa antes de actualizar inventario, caja y documentos.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47150-38C2-41BE-9ACF-1D1402E3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495EE-E626-4F19-92E4-1FC922D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B936A-ECCF-4276-A07B-089FA90A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E4C4E-9A7D-4A9E-A970-918F1A0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342F6-4594-490A-9CA8-D302CD24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Sesión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6A2E3-D5AF-415E-A3BE-817632A7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ACFAF-8528-4FA1-B007-0A7E3BAD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FD71B-378F-44B3-99D7-B52D9987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88819-764D-4DF1-8884-41609C1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CD5AB-91E8-4CA6-A548-982D916B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Público general, DNI o RUC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9FDF6-0F9C-49D4-8893-1A76D40C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7770B-6BB4-4F80-A896-BF339F6F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7B096-F231-461E-BA32-99F753E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62E52-9B29-4869-B8C4-48FEA3B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D866B-33F3-4996-A055-EA2537C6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Stock, lote y condición de venta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AC47A-9FC4-4A19-8A6C-0889F295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7ECE0-6CA4-4596-B9C0-28FACB85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9A00D-B70D-4762-9377-F8AF166E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3C77B-2A99-4AD9-8A42-B25B4838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CE612-7727-4B25-8524-B44EC568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Caja, receta, pagos y FEFO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226A1-F559-4FF6-85EF-D0C427A9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064ED6-8C5E-4404-B820-BAE142B8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1BEE6-6C1E-410D-A7A4-24DDE0D2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4195A-848B-4576-8A92-86D59E1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8C4CB-1AF8-4AF0-AB48-4CF94B4E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Kardex, comprobante y alertas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88547-1BD7-4875-993D-101258B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una regla falla, la transacción se revierte y no deja registros parciales.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053EBB-A244-440C-A6BF-C0DC4A5D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57CFD0-E51E-4348-B89D-60ED1411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815163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AACAF1-3411-40A7-B493-EF2CAC0709CA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238625"/>
            <a:ext cx="8572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FD2D7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3D65E-E54E-4ED2-A7A7-3F4AD4622A8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91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75997-9EFD-4515-BF3E-017785CADB3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E85A5-EA81-4794-8C0F-CAB6C3AAAD2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907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B2863-5806-45FC-B0C4-7D228DFB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D27DB-8E37-49AB-8B00-3B6420E0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4E880-7D98-436D-98AC-920DB681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Arquitectura y tecnologías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C00AB-8088-403F-A0A2-3E775B4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Arquitectura cliente servidor desplegada con contenedores y configuración por entorno.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86053-1DAF-4A90-AD6B-21AC846E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9525">
            <a:solidFill>
              <a:srgbClr val="BF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3A283-952F-47C7-B0BA-4F348B1C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09A0B-B41F-4E8F-A800-37ED39F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0475C-B053-4A0B-B8C7-1077EF1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82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09A24-36BE-4A0E-B4DD-5F930414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60059-4D7B-490D-A13F-6A0F5236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Angular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E00E8-2BB8-44A6-B5BD-F5464511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Nginx publica la interfaz y enruta las solicitudes /api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AAA3C-4AC1-4F15-B093-A7DD5F11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4765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F4FB"/>
          </a:solidFill>
          <a:ln xmlns:a="http://schemas.openxmlformats.org/drawingml/2006/main" w="9525">
            <a:solidFill>
              <a:srgbClr val="8CCB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EDD28-29AA-432F-B5A5-3204E43D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F2386-D2DC-4440-B37B-1B197177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90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8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Spring Boot 3.4.5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2B53A-508C-4ED5-8512-2D3D597F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3F8D1-0FFD-43E2-8865-0C792BC9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20380-CB75-4E3E-AEB6-20490CD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REST · JPA/Hibernate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JWT y CSRF · Flyway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AD83C-3DB4-4E9D-BA00-3249D0EA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E8C5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FC300-FD09-4A96-9610-39862F36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77E68-2F39-4337-B1C6-B2CB946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90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PostgreSQL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4D817-960E-4A2B-B088-5CE6E856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57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Volumen persistente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1E1F8-893D-40A1-BE34-C1986164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5105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D4403-4CE2-49B6-A132-57231CC2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72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47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Integraciones externas controladas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F27E5-E034-4FA7-8CB1-AB5B9BF4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14"/>
          </a:bodyPr>
          <a:lstStyle xmlns:a="http://schemas.openxmlformats.org/drawingml/2006/main">
            <a:def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JSON.pe · SUNAT BETA · DIGEMID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E3A40-4C27-4B79-A6B5-2DBC2E8E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15025"/>
            <a:ext cx="861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08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Docker Compose coordina los servicios y sus healthchecks. El mismo conjunto se despliega en AWS EC2.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9652DA-C909-4074-8D78-A5D2402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236B73-7FB7-4B2E-8127-44774AD5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2042575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7A896-DCFF-453B-B5CF-44DF021C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44FD9-E150-42DB-85C3-3AC5E169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64DF0-F7F0-4CC1-876A-96652CD2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funcional: alertas de inventario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05B9C-AE0F-4E6C-9791-946124E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interfaz convierte datos de stock y vencimiento en tareas concretas para el usuario.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F535C-EB77-4FCC-8145-F5D2DE69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05B65-6CA7-4E15-85DC-06CE65E2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66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 riesgos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8E85B-10AC-4C04-94AF-A5ADB073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Distingue agotados, stock bajo, lotes vencidos y próximos a vencer.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46781-F4E7-41A0-8AD8-F7A9B56D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E67D4-DE51-4506-89EE-9E35B782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Conserva el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5504C-A306-4382-B170-9BE9306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9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Muestra producto, lote, fecha y cantidad para facilitar la revisión.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BE3BA-4240-40EB-A83B-19664396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12226-D1FD-4181-B4F7-099E06C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33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 la acción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A5F99-9B58-4570-BAE6-5F0D9AEC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Permite revisar el producto o iniciar la gestión de compra.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10A12-F24D-43DD-9785-A1C6E989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70675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A545E-37BF-4A99-99A3-4DE1BB1F8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b6dc6a9344fce"/>
          <a:stretch xmlns:a="http://schemas.openxmlformats.org/drawingml/2006/main"/>
        </p:blipFill>
        <p:spPr>
          <a:xfrm xmlns:a="http://schemas.openxmlformats.org/drawingml/2006/main">
            <a:off x="5037402" y="2162175"/>
            <a:ext cx="5908146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79318-7312-4B0E-AA99-F5A36CAE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72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2AEB9"/>
                </a:solidFill>
                <a:latin typeface="Arial"/>
                <a:ea typeface="Arial"/>
                <a:cs typeface="Arial"/>
              </a:rPr>
              <a:t>Captura real del módulo de alertas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6E1D8-4A7A-4990-AD1E-01C54CD5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CE18D-EB13-42B7-A105-66899859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810512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910E3-7159-4679-8E46-14D30CCF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5F495-4D61-48AA-A756-50CB7904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A14A2-0A85-4123-A516-8373342F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SUNAT y DIGEMID en 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FC977-BA41-4765-9153-4A15453E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Los módulos reproducen el flujo documental para pruebas y demostración académica.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9562E-23D0-4CDC-88F8-531EC0FB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SUNAT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30C1D-A1D3-47B9-8E3C-8525FBD1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 de XML UBL 2.1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Resumen diario de boletas UBL 2.0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Firma, estados, intentos y respuesta CDR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30042-6EBC-499E-9883-058CF455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ADD2F-1C77-481E-99E8-350288F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DIGEMID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91226-ED82-49EA-84FC-C6B342ED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 periódico de precios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Exportación de datos para revisión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 del resultado y constancia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C1599-94EE-4027-BADC-65A9D5E9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84536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validez externa requiere credenciales oficiales, certificado digital y aceptación de la entidad correspondiente.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B8AFF-3AEA-47D6-8786-1C3D52B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67782-FBB8-47E9-A316-D25F747B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9873688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F5C83-3267-4834-A5DC-02F0A6F0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E6946-45B7-48E6-A777-06D320B2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47CB8-C2B3-426D-BA00-9998340F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Calidad y 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A01C3-93A7-45FC-989C-85457945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pruebas y los controles de infraestructura respaldan la demostración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B4472-1C07-4B5E-A2D8-D435E7F5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17D2A-62F0-4083-99B9-E24B62FE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pruebas backend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E6EA6-7CA4-4631-941A-86A84F7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Además: compilación Angular y healthchecks de los tres contenedores.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2F670-291E-4ED1-898D-A6B09BCD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42DE4-0062-4DDE-A60F-73FB778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C7E32-A586-43EA-9F32-531CCA3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01B85-299C-4248-8814-DE39A4DD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Servicios y reglas de negocio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APIs, autenticación y permisos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47F86-4490-4DFB-956E-7A27BDBE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EFA5D-0237-4052-B415-19DC38FE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2779B-1FAF-49D7-90DD-6491C43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Compilación Angular correcta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Validaciones y mensajes controlados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1CF1B-EDCD-4BAC-8D24-EA27D5B6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98721-22F8-4111-8F5E-AC4092BF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INFRAESTRUCTURA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6CBD4-F0DF-4C69-8FA6-4F9B81D4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Docker Compose y healthchecks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Demostración preparada para AWS EC2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D3324-5744-4739-A88B-F07589D1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81575"/>
            <a:ext cx="76962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33350" rIns="133350" bIns="1333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usa migraciones Flyway y el backend valida el esquema antes de iniciar.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7AEF3-8ECC-41E7-AA3F-E28AE2BF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16BE8-B460-400F-9640-50C09AD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204927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E6AB6-23F9-4231-A926-07C96F6C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38A4D-BD89-43A6-BA03-271F2179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4CB53-A413-4042-ADBC-669A4DC0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F4904-57EC-407A-A03D-6EE690DA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25"/>
          </a:bodyPr>
          <a:lstStyle xmlns:a="http://schemas.openxmlformats.org/drawingml/2006/main">
            <a:def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8DE"/>
                </a:solidFill>
                <a:latin typeface="Arial"/>
                <a:ea typeface="Arial"/>
                <a:cs typeface="Arial"/>
              </a:rPr>
              <a:t>El sistema integra la operación farmacéutica y deja evidencia de cada movimiento relevante.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54F2E-5686-4E56-863E-6CAE603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9B063-17D8-43D4-9AD1-38F457C4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A42D3-27ED-45B5-A877-0EFC4A9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955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Cada entrada, venta, devolución o ajuste conserva usuario, producto, lote y saldos.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04BDA-7D71-4C6F-8819-76C0BCE6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AF6D3-8A47-494F-8F9E-DC6EC46F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2E999-2DDA-4413-944F-A42600AB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8DB72-802B-49EB-A83C-191407FE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FEFO, Kardex, conteo físico y alertas permiten detectar riesgos antes de que afecten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CADA0-AE55-47A6-8FAE-8733C579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684F9-5323-4540-A29F-506A5C17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F0BAA-436E-4619-9BAC-4CB842E3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Operación integrada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1CB3D-7892-431B-98D6-F88FE4F2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958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Ventas, caja, compras, recetas y reportes comparten reglas y una base de datos común.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91848-6568-4966-BF4A-5B320CE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81929-5891-4CAC-AF27-B3D33C8C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71700"/>
            <a:ext cx="57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05D9D-9949-4F49-AB4D-D660CE55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Demostración propuesta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A7CE2-5206-4DA5-AB1F-3142DC42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Abrir caja, registrar una venta, revisar Kardex y cerrar con arqueo.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E94A3-E713-4A30-8D99-4CE30121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28D3C-1010-4E36-A6ED-19FC7CF8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782774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2026-10-19T03:28:16.9310000Z</dcterms:created>
  <dcterms:modified xsi:type="dcterms:W3CDTF">2026-10-19T03:28:16.9310000Z</dcterms:modified>
</coreProperties>
</file>