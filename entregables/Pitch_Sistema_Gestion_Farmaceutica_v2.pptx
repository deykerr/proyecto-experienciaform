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502a21c4a4f96" /><Relationship Type="http://schemas.openxmlformats.org/officeDocument/2006/relationships/extended-properties" Target="/docProps/app.xml" Id="R630d760233604939" /><Relationship Type="http://schemas.openxmlformats.org/officeDocument/2006/relationships/officeDocument" Target="/ppt/presentation.xml" Id="R45f20287d7be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8970d181124a58"/>
  </p:sldMasterIdLst>
  <p:notesMasterIdLst>
    <p:notesMasterId xmlns:r="http://schemas.openxmlformats.org/officeDocument/2006/relationships" r:id="R43442badc2464769"/>
  </p:notesMasterIdLst>
  <p:sldIdLst>
    <p:sldId xmlns:r="http://schemas.openxmlformats.org/officeDocument/2006/relationships" id="256" r:id="R1eedfc3b9cea4512"/>
    <p:sldId xmlns:r="http://schemas.openxmlformats.org/officeDocument/2006/relationships" id="257" r:id="Rf88e39658dee47ce"/>
    <p:sldId xmlns:r="http://schemas.openxmlformats.org/officeDocument/2006/relationships" id="258" r:id="Re1afb26883714d6b"/>
    <p:sldId xmlns:r="http://schemas.openxmlformats.org/officeDocument/2006/relationships" id="259" r:id="R72b4db497a674672"/>
    <p:sldId xmlns:r="http://schemas.openxmlformats.org/officeDocument/2006/relationships" id="260" r:id="R527fa05de65f43d0"/>
    <p:sldId xmlns:r="http://schemas.openxmlformats.org/officeDocument/2006/relationships" id="261" r:id="R24c045a234ea4528"/>
    <p:sldId xmlns:r="http://schemas.openxmlformats.org/officeDocument/2006/relationships" id="262" r:id="Raeba2dbfb69a46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1b7a497645415e" /><Relationship Type="http://schemas.openxmlformats.org/officeDocument/2006/relationships/slideMaster" Target="/ppt/slideMasters/slideMaster1.xml" Id="R3d8970d181124a58" /><Relationship Type="http://schemas.openxmlformats.org/officeDocument/2006/relationships/notesMaster" Target="/ppt/notesMasters/notesMaster1.xml" Id="R43442badc2464769" /><Relationship Type="http://schemas.openxmlformats.org/officeDocument/2006/relationships/presProps" Target="/ppt/presProps.xml" Id="R5c188bb383a54494" /><Relationship Type="http://schemas.openxmlformats.org/officeDocument/2006/relationships/tableStyles" Target="/ppt/tableStyles.xml" Id="R3dc6d9217e7e4df4" /><Relationship Type="http://schemas.openxmlformats.org/officeDocument/2006/relationships/slide" Target="/ppt/slides/slide1.xml" Id="R1eedfc3b9cea4512" /><Relationship Type="http://schemas.openxmlformats.org/officeDocument/2006/relationships/slide" Target="/ppt/slides/slide2.xml" Id="Rf88e39658dee47ce" /><Relationship Type="http://schemas.openxmlformats.org/officeDocument/2006/relationships/slide" Target="/ppt/slides/slide3.xml" Id="Re1afb26883714d6b" /><Relationship Type="http://schemas.openxmlformats.org/officeDocument/2006/relationships/slide" Target="/ppt/slides/slide4.xml" Id="R72b4db497a674672" /><Relationship Type="http://schemas.openxmlformats.org/officeDocument/2006/relationships/slide" Target="/ppt/slides/slide5.xml" Id="R527fa05de65f43d0" /><Relationship Type="http://schemas.openxmlformats.org/officeDocument/2006/relationships/slide" Target="/ppt/slides/slide6.xml" Id="R24c045a234ea4528" /><Relationship Type="http://schemas.openxmlformats.org/officeDocument/2006/relationships/slide" Target="/ppt/slides/slide7.xml" Id="Raeba2dbfb69a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3695ce8054c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0fdba60aa4d1e" /><Relationship Type="http://schemas.openxmlformats.org/officeDocument/2006/relationships/notesMaster" Target="/ppt/notesMasters/notesMaster1.xml" Id="R86dd7c99048c47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9b892498d74731" /><Relationship Type="http://schemas.openxmlformats.org/officeDocument/2006/relationships/notesMaster" Target="/ppt/notesMasters/notesMaster1.xml" Id="R925aa962d59f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275abb1834038" /><Relationship Type="http://schemas.openxmlformats.org/officeDocument/2006/relationships/notesMaster" Target="/ppt/notesMasters/notesMaster1.xml" Id="R88c3e8222e4c41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7f907902c4b27" /><Relationship Type="http://schemas.openxmlformats.org/officeDocument/2006/relationships/notesMaster" Target="/ppt/notesMasters/notesMaster1.xml" Id="Reaeea9fb41d1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1a0b6c75ff4f25" /><Relationship Type="http://schemas.openxmlformats.org/officeDocument/2006/relationships/notesMaster" Target="/ppt/notesMasters/notesMaster1.xml" Id="Rd8a7ee6c43a942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91c9299c0047fe" /><Relationship Type="http://schemas.openxmlformats.org/officeDocument/2006/relationships/notesMaster" Target="/ppt/notesMasters/notesMaster1.xml" Id="R7cfdff06ed8e4d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d0001067246db" /><Relationship Type="http://schemas.openxmlformats.org/officeDocument/2006/relationships/notesMaster" Target="/ppt/notesMasters/notesMaster1.xml" Id="R4b85e2291bcc4c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Buenos días. Presentamos un sistema integral de gestión farmacéutica pensado para boticas independientes y pequeñas cadenas. El proyecto conecta inventario, ventas, caja y cumplimiento en una sola operación. Nuestro objetivo es sencillo: que el responsable del negocio tome decisiones antes de quedarse sin stock, perder productos por vencimiento o encontrar diferencias al cerrar caja.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visual: ilustración original generada para esta presentación. No representa un establecimiento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problema no consiste únicamente en registrar una venta. En el trabajo diario aparecen cuatro fallas conectadas. Primero, el stock del sistema puede diferir del stock físico. Segundo, los lotes próximos a vencer no siempre reciben atención a tiempo. Tercero, compras, ventas, devoluciones y caja suelen gestionarse por separado. Finalmente, los reportes requieren consolidación manual. Estas fallas generan pérdidas evitables y hacen que el responsable reaccione cuando el problema ya ocurrió.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Nuestro primer segmento son las boticas independientes de un local. En ellas, el propietario o administrador participa directamente en la operación y percibe de inmediato una diferencia de stock o un cierre de caja incorrecto. El mismo producto puede crecer hacia pequeñas cadenas de dos a cinco locales. Los usuarios diarios son el cajero y el almacenero, cada uno con permisos específicos, mientras el administrador conserva la visión completa del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60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solución reúne los flujos que normalmente están separados. El punto de venta se conecta con caja y comprobantes. El inventario trabaja por lotes y prioriza la salida de los productos que vencen primero. Las compras actualizan existencias mediante recepción, mientras las devoluciones mantienen la trazabilidad. El sistema también gestiona recetas, anulaciones, conteos y arqueos. La pantalla muestra un módulo real de alertas que identifica stock crítico, productos agotados y lotes por vencer.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 visual: captura del sistema ejecutado localmente con datos de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propuesta de valor se concentra en anticipar problemas. Las alertas permiten actuar sobre stock y vencimientos. El Kardex y los permisos por rol documentan las decisiones. Los flujos conectados reducen la necesidad de volver a registrar la misma operación en distintos lugares. Como hipótesis comercial proponemos un plan base de 99 soles mensuales por local y una implementación inicial de 250 soles. Este precio todavía debe validarse durante el piloto con clientes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proyecto ya cuenta con una aplicación web funcional, despliegue reproducible mediante Docker, tres perfiles con permisos diferenciados y una suite de 16 pruebas automatizadas correctas. Esta base técnica permite pasar a una prueba controlada sin empezar desde cero. La siguiente etapa consiste en trabajar con una línea base y comprobar el comportamiento del sistema durante la operación diaria.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Nota: la operación SUNAT y DIGEMID en producción requiere credenciales, validación y los procesos de homologación aplicables.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Nuestro llamado es concreto. Buscamos tres boticas interesadas en participar en un piloto de 30 días. Cada establecimiento designará a una persona responsable, utilizará los flujos diarios acordados y participará en una revisión breve cada semana. Nosotros configuraremos la prueba, acompañaremos el uso inicial y consolidaremos los resultados. El siguiente paso es seleccionar los establecimientos y programar un diagnóstico para registrar la línea base. Si administras una botica o puedes conectarnos con un responsable, conversemos al finalizar.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defd7fa704e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e9d9dc56cf43a5" /><Relationship Type="http://schemas.openxmlformats.org/officeDocument/2006/relationships/slideLayout" Target="/ppt/slideLayouts/slideLayout1.xml" Id="R032396f14b4d4c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396f14b4d4c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cdf7a0f60405c" /><Relationship Type="http://schemas.openxmlformats.org/officeDocument/2006/relationships/image" Target="/ppt/media/image.png" Id="R5fad16c7efcc4851" /><Relationship Type="http://schemas.openxmlformats.org/officeDocument/2006/relationships/notesSlide" Target="/ppt/notesSlides/notesSlide1.xml" Id="R1d70e168049a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cec8ac97941dc" /><Relationship Type="http://schemas.openxmlformats.org/officeDocument/2006/relationships/notesSlide" Target="/ppt/notesSlides/notesSlide2.xml" Id="R0262d9922ab4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71baa27a14200" /><Relationship Type="http://schemas.openxmlformats.org/officeDocument/2006/relationships/notesSlide" Target="/ppt/notesSlides/notesSlide3.xml" Id="Ra7f811898abf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2e45e13924d96" /><Relationship Type="http://schemas.openxmlformats.org/officeDocument/2006/relationships/image" Target="/ppt/media/image2.png" Id="R0ecb262fec114107" /><Relationship Type="http://schemas.openxmlformats.org/officeDocument/2006/relationships/notesSlide" Target="/ppt/notesSlides/notesSlide4.xml" Id="R4a9bfeb567e840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0223fca974c59" /><Relationship Type="http://schemas.openxmlformats.org/officeDocument/2006/relationships/notesSlide" Target="/ppt/notesSlides/notesSlide5.xml" Id="Rf90ec5f9f6ef44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de6406fde4468" /><Relationship Type="http://schemas.openxmlformats.org/officeDocument/2006/relationships/notesSlide" Target="/ppt/notesSlides/notesSlide6.xml" Id="R7dc8d779f01b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d7183907b42f8" /><Relationship Type="http://schemas.openxmlformats.org/officeDocument/2006/relationships/notesSlide" Target="/ppt/notesSlides/notesSlide7.xml" Id="R06378872b66a4e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d16c7efcc48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509F6-D345-4734-8C35-54D35FC1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07982-7383-4A4D-A0B8-DAAD8E8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086A0-71E8-4F6C-B56A-D759202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ELEVATOR PITCH · 5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D8B9E-0FF0-4F7A-AB81-0A13321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Integral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Gestión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Farmacéutica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1E2FE-AB19-43AA-A152-CC30A65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6E9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E9EF"/>
                </a:solidFill>
                <a:latin typeface="Arial"/>
                <a:ea typeface="Arial"/>
                <a:cs typeface="Arial"/>
              </a:rPr>
              <a:t>Control de inventario, ventas y cumplimiento para boticas y farmacias independientes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12F33-EA79-40ED-A96D-9F29AA6B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Una operación conectada. Decisiones a tiempo.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FE3F4-6BFF-44AB-9F26-7E98A48E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674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94B6C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4B6C4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350404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2F44A-390C-45BB-BC30-4C59C57D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77454-94DB-453F-A642-70AD2CF1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8293C-5671-4771-AF66-7BF90B2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El problema operativo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4F9D2-4E31-4DC8-B446-EAB038D1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477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 información existe, pero llega tarde o queda separada entre cuadernos, hojas de cálculo y sistemas parciales.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CE3F0-D705-4E24-BBCF-A24458A5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096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A86E8-0B65-4033-A8DF-4939BA9F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5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F6682-F9B9-49AD-BC46-7FCCFB0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DC5A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C5A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63CFF-B603-43D6-A4CF-AB32531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25256-0231-4D78-A54E-E8002784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El sistema indica existencias que no siempre coinciden con el anaquel.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FEBFC-9BF1-48BB-B2C2-55069B0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D4471-398F-408D-88C7-06926EA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003F3-F126-4CF8-8CD8-E502EFC1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Lotes que vencen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3404B-1CE7-442C-B49D-3CE8D9B2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 alerta llega cuando el producto ya perdió valor o no puede venderse.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A8A06-6CC7-452B-8FBF-0A4E803E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B6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8878C-96D7-4DA5-A0C5-FE3AC44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2744B-826D-4C7E-9A37-8B7755D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Flujos separados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B41E3-193E-4306-93A9-5B7ABEFB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Compras, ventas, devoluciones y caja no comparten la misma trazabilidad.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EE4A6-F6E5-4B55-A526-EDE58C2B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E946F-7B32-4B9A-B51B-8E48F7C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57425"/>
            <a:ext cx="87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E667A-ED8D-45C9-9525-E42685E6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Reporte manual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E7BD0-AC2D-4DD6-8C0A-EC32E687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Preparar información para control interno y entidades externas consume tiempo.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64E8A-90F7-4A06-BF0A-AE0BA9F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32C59-4816-4FEC-A16E-6EE3A8E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resultado: pérdidas evitables y decisiones tardías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AB8FF-EBE8-4822-90B2-AF9A237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CB3BE-0594-4D2C-8AB4-9DB9531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564618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6EEDB-DC7A-4301-9456-4E4821D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32473-49DB-40BC-982D-25C62800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C7FFF-79F7-4143-B7AE-270682F5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Segmento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E68E6-5E0C-4E5A-AEB0-97008A01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28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Empezamos donde el control operativo tiene impacto inmediato y la adopción puede ser simple.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0CA8A-E414-47C7-8BF5-A823F199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6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E5F9C-A08A-410A-83BF-0E59C2D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57425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A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5BDFB-7B23-4FFB-A09A-FFC31EA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6A9D6-354B-42ED-89F2-D4758303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2–5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locales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6F5E4-3D68-4ED4-B61A-0A26F35B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AB6B5-5152-4F59-B791-28ED296B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Boticas independientes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648F8-957C-4CBC-AAC2-F7B65251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Pequeñas cadenas como siguiente etapa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BFA9B-FF34-4494-91E3-B9573E08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D98EE-A85D-4313-B95B-C7357772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Cliente que 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4A9B7-007C-458E-A8ED-B406310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Propietario o administrador que necesita visibilidad sin crear un área de TI.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56364-6923-4E51-BB8A-E98ADD63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78BFA-3971-4A5B-8823-0E07EEB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Usuarios diarios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82218-47C4-4ADA-88AF-A793E3F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Cajero y almacenero trabajan con permisos distintos y un registro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7CB15-D86E-463E-A884-79BE186E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EE47A-2835-46C2-851E-B552034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Necesidad prioritaria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0CAB7-C0E8-4FF5-BC6D-11CA394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Controlar stock, vencimientos y caja antes de ampliar el número de locales.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05709-CAA0-403B-88A2-E9BEA09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6F23E-5739-4EB1-83FC-05B2B6A4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622734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38A88-A883-4168-8394-EDE17C7B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3767C-99F8-427D-8D6A-226D5603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6B6D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58B82-602B-4E5C-A143-5D3D2E72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056E1-F34F-41E7-BD14-84FBBA4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0287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8DCE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DCE4"/>
                </a:solidFill>
                <a:latin typeface="Arial"/>
                <a:ea typeface="Arial"/>
                <a:cs typeface="Arial"/>
              </a:rPr>
              <a:t>Un sistema web que conecta la operación completa y convierte los movimientos diarios en información útil.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A2BCB-563F-4BAC-AB53-BCDEF424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22AB7-D026-4D29-9A9C-7FA488F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Ventas, comprobantes y caja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AF442-5C08-4B3B-9314-D635AC0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A68B5-9AF5-4E9A-8C2D-BA20E6D0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113E8-95D9-49CB-BDC7-EFDE8734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 por lote con salida FEFO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B509B-BB5D-44A3-8BC7-5FBF9E9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59AFE-9FB4-44DF-9943-6F27180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18076-DC64-4682-B1D2-155DA714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Compras, recepción y devoluciones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FCB78-6E61-4FA5-8DC9-43EED67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8F962-4E55-4811-A54B-AC9CD227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2AC12-AB17-4E81-A591-CE81FDE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Recetas, anulaciones y arqueo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64437-4DD1-4838-9176-D857B47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9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72335-02E1-4D9E-9AE0-696F7DD9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2A873-B9B8-41D8-A6F9-DC5FC20C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Alertas, reportes y cumplimiento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5DAF2-F07C-4DFE-AC53-077277D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33550"/>
            <a:ext cx="61912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b262fec114107"/>
          <a:srcRect xmlns:a="http://schemas.openxmlformats.org/drawingml/2006/main" l="0" t="1677" r="0" b="16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1847850"/>
            <a:ext cx="5962650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57D4F-DE1D-421C-8373-CDEC3DA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864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FB0B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FB0BD"/>
                </a:solidFill>
                <a:latin typeface="Arial"/>
                <a:ea typeface="Arial"/>
                <a:cs typeface="Arial"/>
              </a:rPr>
              <a:t>Captura del módulo de alertas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FF047-320D-4FEB-A996-077DA87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C5D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5D1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75747-9F48-42C5-83E1-70F19DE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8C5D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C5D1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913114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D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565F7-357D-488D-888E-D404937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91F0C-9055-42E8-954E-A8C2EAB6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176F-1F3F-4DB3-9189-40B17376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Valor y precio propuesto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5916D-680B-40D7-9351-5F2B7C2E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Anticipar antes de perder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AF1E0-9D44-45C2-A943-E06B8193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El sistema ayuda a detectar riesgos, documentar decisiones y mantener una operación coherente entre roles.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A1CE0-E575-4931-A633-C27D0231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DC5A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C5A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CC45A-05BA-41DC-87E1-E59B7B6D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242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Menos reacción tardía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FD28A-1AB2-4288-B71B-857EE0D8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Las alertas muestran stock crítico y lotes próximos a vencer.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DF4ED-7148-49CC-84C6-77E3B10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50A20-6389-4412-BFD4-4A896AAC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291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Mayor trazabilidad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39F7B-D5B8-4596-AE31-930BD61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Kardex, usuarios y documentos registran el origen de cada movimiento.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1B6C0-16F0-4E87-8EEE-820AE10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F8354-A2D6-4BA8-A744-C03E3086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Operación conectada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CB7A4-6025-49A9-A67F-4744A70F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388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Una compra recibida o una devolución actualiza el inventario relacionado.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DD4DB-EDC8-4640-A598-4B7B9C4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19200"/>
            <a:ext cx="4400550" cy="46863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4F58D-25AE-486C-A96B-A4FC4DD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5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PLAN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65B92-5796-4720-A4C7-1CD41965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S/ 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5EB39-B7FE-48EE-A7B3-7505C843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C9E0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E0E7"/>
                </a:solidFill>
                <a:latin typeface="Arial"/>
                <a:ea typeface="Arial"/>
                <a:cs typeface="Arial"/>
              </a:rPr>
              <a:t>por local al 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1AAC6-3678-4462-BE79-880CC1D0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300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5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6AF4F-30D2-4A00-A182-80638B1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8100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Inventario por lotes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Ventas y caja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para tres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399DB-90A0-4841-9738-54310824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Implementación inicial: S/ 250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DE131-86C0-4C5E-9628-2E86155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Hipótesis comercial para validar durante el piloto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50927-3907-47E4-93B4-10D62C77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230C8-2E74-41C2-AB3E-5E0DE103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954881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3E2AD6-FDA3-42F5-B55E-41F227CF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F030A-B43B-4258-848C-9A21D65D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A866F-35C6-4812-8DA2-FE25AB94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Viabilidad del piloto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9E1C3-991A-496F-8C04-D2E0FCD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9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El producto ya puede entrar a una prueba controlada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9577F-E164-45A4-8CBA-F71D618F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La validación debe medir resultados operativos antes de ampliar funciones o locales.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031EC-1352-4FD1-A1BC-8998CC9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864CC-48E0-4343-8BB1-12D5C6B7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44B3D-0F20-4864-A5D6-862DF190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90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025A0-B474-4478-A50B-5BE45ECF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24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A7DE-1242-47EB-82DF-419D9CA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Aplicación web y despliegue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DF501-154E-409E-8769-CE848B70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26AFF-F582-4266-8EEB-C5B0CF16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AE608-0CA2-4393-9F26-5D7500A6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90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9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E384E-767F-4968-AF78-CB2DC927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33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CALIDAD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7400D-CDC0-4E25-AB03-0DD7C0A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16 pruebas automatizadas correctas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6DFB9-BB56-4668-80FA-25EC1A22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E95A9-0D80-409D-9401-4F57FDC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AE384-0C8B-42D2-83F4-C9C6E1B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PILOTO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779E9-876A-4929-B9A1-8FD1ECD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30 días en operación supervisada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E50BF-80AF-4C2A-9D3C-F7795C8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23950"/>
            <a:ext cx="4438650" cy="4857750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A163A-C5DF-4B52-B7D8-062C3C4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04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BASE TÉCNICA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3026B-6FC3-4711-968B-BA2EF799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 para validar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A786A-1645-4BC3-AA23-B4DB8C4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08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5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007FB-483E-403B-9414-47FB5AA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990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9643E-0591-4BA9-9BD5-ACFF155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automatizadas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986C5-4B8A-4AB2-99A3-EC0086C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990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1CAEE-411D-4562-90A5-6F5B05E3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roles con permisos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diferenciados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FF968-483B-4261-BE86-F7B2BD2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62500"/>
            <a:ext cx="990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46795-E4DF-459B-9BB2-C63DEB1F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57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despliegue reproducible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Docker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81E2CC-9683-4EC0-85A4-D1007A52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626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FC0C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C0CC"/>
                </a:solidFill>
                <a:latin typeface="Arial"/>
                <a:ea typeface="Arial"/>
                <a:cs typeface="Arial"/>
              </a:rPr>
              <a:t>SUNAT y DIGEMID requieren credenciales y validación para producción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1A596-5A0D-4831-8B42-54AC0DB5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Siguiente etapa: prueba supervisada con una línea 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B5B76-0D78-4113-BF75-45C2F9E6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E042C5-9892-4FC6-AAA4-86532E19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A90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909A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359164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8C646-F27E-4B5C-AB36-8A8ED7A7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06948-C57F-456C-AE6A-20BFF78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6B6D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DD364-A608-4829-94FF-0E598B3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1950"/>
            <a:ext cx="1013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Llamado a la acción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0402F-A3D0-48E6-B126-AD3D161A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Buscamos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78BBD-30EA-41F7-9CC7-44E00EB5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boticas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7276D-4539-487C-A053-96D215AD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C8DCE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8DCE4"/>
                </a:solidFill>
                <a:latin typeface="Arial"/>
                <a:ea typeface="Arial"/>
                <a:cs typeface="Arial"/>
              </a:rPr>
              <a:t>para un piloto de 30 días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862B6-94D5-4E0C-BDAE-A254DA7D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AFCB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BD5"/>
                </a:solidFill>
                <a:latin typeface="Arial"/>
                <a:ea typeface="Arial"/>
                <a:cs typeface="Arial"/>
              </a:rPr>
              <a:t>Queremos validar el sistema en una operación real y decidir las mejoras con evidencia.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FA5FE-F417-4155-8EC1-3009131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53149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96289-6B87-45B4-967A-01C867A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4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Participación esperada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EAF50-33FA-4A5A-B38B-092536C1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F0BA-9387-475F-8E27-E8B2E4D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574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Responsable designado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893A1-2D26-4C40-9F83-6AFF748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6220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Una persona coordina el piloto y centraliza las observaciones.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D3102-CA82-4F7C-B9E1-3EF76367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F7965-F90B-4F93-9839-808B4745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Uso de flujos diarios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92281-A1B5-46DD-9D34-71902F01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El equipo registra inventario, ventas y caja durante la prueba.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74037-D72B-4E84-AFAF-6FA658D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14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1C7C0-26F6-4E04-BB03-6EEEEF32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A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C"/>
                </a:solidFill>
                <a:latin typeface="Arial"/>
                <a:ea typeface="Arial"/>
                <a:cs typeface="Arial"/>
              </a:rPr>
              <a:t>Revisión semanal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7BC12-8ECD-4B2E-9EF2-A566C453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Una reunión breve permite priorizar problemas y mejoras.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F67A2-F3CA-43A9-A47D-14474041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9B3F1-37C5-4F60-997B-04929AE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paso: seleccionar los establecimientos y programar el diagnóstico inicial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E3624-7B56-4BFF-904B-D7A3B842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A8C5D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5D1"/>
                </a:solidFill>
                <a:latin typeface="Arial"/>
                <a:ea typeface="Arial"/>
                <a:cs typeface="Arial"/>
              </a:rPr>
              <a:t>SISTEMA INTEGRAL DE GESTIÓN FARMACÉUTICA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3839F-E342-4788-8DF8-EF3F7471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A8C5D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C5D1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936186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2026-09-21T23:37:59.7490000Z</dcterms:created>
  <dcterms:modified xsi:type="dcterms:W3CDTF">2026-09-21T23:37:59.7490000Z</dcterms:modified>
</coreProperties>
</file>